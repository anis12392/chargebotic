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PRE-SEED  ·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CONFIDENTIAL — INVESTOR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Helvetica"/>
              </a:defRPr>
            </a:pPr>
            <a:r>
              <a:t>WIREBIRD</a:t>
            </a:r>
            <a:br/>
            <a:r>
              <a:t>AEROSPACE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320040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0B4FF"/>
                </a:solidFill>
                <a:latin typeface="Helvetica"/>
              </a:defRPr>
            </a:pPr>
            <a:r>
              <a:t>Harvest power from any power line. Deliver it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t>A tethered drone that perches on power lines, harvests energy inductively,</a:t>
            </a:r>
            <a:br/>
            <a:r>
              <a:t>and delivers clean DC power to the ground — replacing generators.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12191695" cy="914400"/>
          </a:xfrm>
          <a:prstGeom prst="rect">
            <a:avLst/>
          </a:prstGeom>
          <a:solidFill>
            <a:srgbClr val="06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50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7.3M 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533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Power lines worldwide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650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$20B+/yr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0533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DoD annual energy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650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$400/gal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0533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Fuel cost at remote FOBs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650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0533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Direct competitors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INTRO —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The signal is already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45720" cy="411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Working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Physical hardware in the lab. Energy harvest from power lines demonstrated. Video demo exists.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45720" cy="411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535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Chariot Defense — partnership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2783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$41M raised (a16z Series A). CEO offered to fund our prototype &amp; purchase units. Active US Army contracts.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45720" cy="411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Founders Inc portfolio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5935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Selected by Founders Inc accelerator. Demo day completed May 2026. Investor introductions underway.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1655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Steve Macenski — Technical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9087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Maintainer of Nav2, the most widely deployed open-source robotics navigation stack.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45720" cy="41148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4807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0 direct competitors —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No product today autonomously taps a power line and delivers via tether to ground vehicles. White space confirmed.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C3D21"/>
                </a:solidFill>
                <a:latin typeface="Helvetica"/>
              </a:defRPr>
            </a:pPr>
            <a:r>
              <a:t>STATUS QUO —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Autonomous systems solved mobility.</a:t>
            </a:r>
            <a:br/>
            <a:r>
              <a:t>Batteries solved runtime.</a:t>
            </a:r>
            <a:br/>
            <a:r>
              <a:t>Nobody solved field recharging.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When the battery dies, the vehicle drives back to base or waits for a fuel convoy. In denied environments, neither option is acceptable. The mission stops.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2651760" cy="233172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C3D21"/>
                </a:solidFill>
                <a:latin typeface="Helvetica"/>
              </a:defRPr>
            </a:pPr>
            <a:r>
              <a:t>1 in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Fuel convoys → casualty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Afghanistan — Army SMP 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063240"/>
            <a:ext cx="2651760" cy="233172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C3D21"/>
                </a:solidFill>
                <a:latin typeface="Helvetica"/>
              </a:defRPr>
            </a:pPr>
            <a:r>
              <a:t>$400/gal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31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Fully burdened</a:t>
            </a:r>
            <a:br/>
            <a:r>
              <a:t>fuel cost at FOB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Tactical edge vs. $3 at pump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3063240"/>
            <a:ext cx="2651760" cy="233172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  <a:latin typeface="Helvetica"/>
              </a:defRPr>
            </a:pPr>
            <a:r>
              <a:t>250K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931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Army vehicles that need</a:t>
            </a:r>
            <a:br/>
            <a:r>
              <a:t>field recharging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297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US Army fleet — verified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3063240"/>
            <a:ext cx="2651760" cy="233172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3246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00B4FF"/>
                </a:solidFill>
                <a:latin typeface="Helvetica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39319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Solutions that tap</a:t>
            </a:r>
            <a:br/>
            <a:r>
              <a:t>power lines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4297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D4D4D4"/>
                </a:solidFill>
                <a:latin typeface="Helvetica"/>
              </a:defRPr>
            </a:pPr>
            <a:r>
              <a:t>Verified white 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▸  "The hardest part is actually gonna be keeping them charged and operating." — Adam Warmoth, CEO Chariot Defense ($41M raised, a16z)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STATUS QUO —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Helvetica"/>
              </a:defRPr>
            </a:pPr>
            <a:r>
              <a:t>Wirebird is a tethered drone that autonomously</a:t>
            </a:r>
            <a:br/>
            <a:r>
              <a:t>perches on any power line, harvests energy</a:t>
            </a:r>
            <a:br/>
            <a:r>
              <a:t>inductively, and delivers it to the ground.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0698480" cy="1270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862072"/>
            <a:ext cx="45720" cy="347472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4378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Silent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8437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No engine noise. No thermal signature. No acoustic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38143"/>
            <a:ext cx="45720" cy="347472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19855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Fuel-free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419855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Draws from existing infrastructure. Zero logistics tail.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14215"/>
            <a:ext cx="45720" cy="347472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95927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Weather-independent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995927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Works day, night, rain or shine. Unlike solar.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45720" cy="347472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Zero emissions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7200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Clean DC power. No carbon, no noise, no fuel convoys.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45720" cy="347472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480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Deploys in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14807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No installation. No permits. Drop and fly.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PRODUCT —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Four steps. Zero infrastructure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698480" cy="868680"/>
          </a:xfrm>
          <a:prstGeom prst="rect">
            <a:avLst/>
          </a:prstGeom>
          <a:solidFill>
            <a:srgbClr val="0D111C"/>
          </a:solidFill>
          <a:ln w="1270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0B4FF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0B4FF"/>
                </a:solidFill>
                <a:latin typeface="Helvetica"/>
              </a:defRPr>
            </a:pPr>
            <a: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87752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Launch Wirebird from the ground. No infrastructure needed — just proximity to a power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0698480" cy="868680"/>
          </a:xfrm>
          <a:prstGeom prst="rect">
            <a:avLst/>
          </a:prstGeom>
          <a:solidFill>
            <a:srgbClr val="0D111C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461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Helvetica"/>
              </a:defRPr>
            </a:pPr>
            <a:r>
              <a:t>PERCH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47872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The drone autonomously locates the line and clamps onto it. Computer vision + precision positioning.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10698480" cy="868680"/>
          </a:xfrm>
          <a:prstGeom prst="rect">
            <a:avLst/>
          </a:prstGeom>
          <a:solidFill>
            <a:srgbClr val="0D111C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062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Helvetica"/>
              </a:defRPr>
            </a:pPr>
            <a:r>
              <a:t>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07992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An induction coil extracts power from the AC magnetic field. No wire contact. No tap. No permits.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0698480" cy="868680"/>
          </a:xfrm>
          <a:prstGeom prst="rect">
            <a:avLst/>
          </a:prstGeom>
          <a:solidFill>
            <a:srgbClr val="0D111C"/>
          </a:solidFill>
          <a:ln w="12700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640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6636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68112"/>
            <a:ext cx="8961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Clean DC flows down the tether to the ground. Connect to batteries, equipment, or a mobile microgrid.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PRODUCT —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WIREBIRD vs. THE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Everything else has a fatal dependency. We don't.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solidFill>
            <a:srgbClr val="10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2199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566160" y="22219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WIREBIRD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2219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DIESEL 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219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SOLAR+BATTERY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2199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9A9A9A"/>
                </a:solidFill>
                <a:latin typeface="Helvetica"/>
              </a:defRPr>
            </a:pPr>
            <a:r>
              <a:t>WINDLIFT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0972800" cy="512064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Silent / no 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426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426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426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6426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44952"/>
            <a:ext cx="10972800" cy="512064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8211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Fuel-free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72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172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172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172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75304"/>
            <a:ext cx="10972800" cy="512064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1246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Weather-independent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703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703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703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03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05656"/>
            <a:ext cx="10972800" cy="512064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24281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Deploys in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2336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36008"/>
            <a:ext cx="10972800" cy="512064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7316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No infrastructure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764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764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764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764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66360"/>
            <a:ext cx="10972800" cy="512064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0352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Continuous 24/7 power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294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294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Helvetica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294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2943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C3D21"/>
                </a:solidFill>
                <a:latin typeface="Helvetica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PRODUCT —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WHO BUYS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Three customers. One underlying need.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611880" cy="3977639"/>
          </a:xfrm>
          <a:prstGeom prst="rect">
            <a:avLst/>
          </a:prstGeom>
          <a:solidFill>
            <a:srgbClr val="0D111C"/>
          </a:solidFill>
          <a:ln w="12700">
            <a:solidFill>
              <a:srgbClr val="FC3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11880" cy="64008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C3D21"/>
                </a:solidFill>
                <a:latin typeface="Helvetica"/>
              </a:defRPr>
            </a:pPr>
            <a:r>
              <a:t>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9A9A"/>
                </a:solidFill>
                <a:latin typeface="Helvetica"/>
              </a:defRPr>
            </a:pPr>
            <a:r>
              <a:t>Primary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DoD forward operating bases — $20B+/yr energy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472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USSOCOM — fastest procurement (own acquisition authority)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993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NATO allies — same doctrine, same energy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72584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Pain: fuel convoys are the #1 logistics vulnerability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852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Entry: Army SBIR Phase I ($250K) + SOCOM SBIR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611880" cy="3977639"/>
          </a:xfrm>
          <a:prstGeom prst="rect">
            <a:avLst/>
          </a:prstGeom>
          <a:solidFill>
            <a:srgbClr val="0D111C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03120"/>
            <a:ext cx="36118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Helvetica"/>
              </a:defRPr>
            </a:pPr>
            <a:r>
              <a:t>EMERGENCY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4203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9A9A"/>
                </a:solidFill>
                <a:latin typeface="Helvetica"/>
              </a:defRPr>
            </a:pPr>
            <a:r>
              <a:t>Second wave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3464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FEMA, Red Cross, National Guard disaster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472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Hurricanes, earthquakes — grid is down, lines still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05993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Need power fast, in place, without fuel truck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672584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Entry: Partnership with first-responder integrators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2852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Validation: Defense deployment is proof they need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103120"/>
            <a:ext cx="3611880" cy="3977639"/>
          </a:xfrm>
          <a:prstGeom prst="rect">
            <a:avLst/>
          </a:prstGeom>
          <a:solidFill>
            <a:srgbClr val="0D111C"/>
          </a:solidFill>
          <a:ln w="1270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103120"/>
            <a:ext cx="3611880" cy="64008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2402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0B4FF"/>
                </a:solidFill>
                <a:latin typeface="Helvetica"/>
              </a:defRPr>
            </a:pPr>
            <a:r>
              <a:t>REMOTE INDUSTRIAL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4203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9A9A"/>
                </a:solidFill>
                <a:latin typeface="Helvetica"/>
              </a:defRPr>
            </a:pPr>
            <a:r>
              <a:t>Commercial upside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Mining, oil &amp; gas, construction near power 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447288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Currently run diesel for on-site power at high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5993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Same hardware, lower ITAR requirements, bigger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72584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Entry: Post-defense commercial distribution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285232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TAM: $33B commercial drone infrastructure market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PRODUCT —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Hardware + recurring revenue + non-dilutive grants.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03520" cy="1691640"/>
          </a:xfrm>
          <a:prstGeom prst="rect">
            <a:avLst/>
          </a:prstGeom>
          <a:solidFill>
            <a:srgbClr val="0D111C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0352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t>HARDWARE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243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$35K – $80K per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Unit sale to defense integrators or direct DoD.</a:t>
            </a:r>
            <a:br/>
            <a:r>
              <a:t>57–65% gross margin at 50-unit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48840"/>
            <a:ext cx="5303520" cy="1691640"/>
          </a:xfrm>
          <a:prstGeom prst="rect">
            <a:avLst/>
          </a:prstGeom>
          <a:solidFill>
            <a:srgbClr val="0D111C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30352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134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Helvetica"/>
              </a:defRPr>
            </a:pPr>
            <a:r>
              <a:t>SERVICE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2432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$5K / year per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Maintenance, firmware, field support.</a:t>
            </a:r>
            <a:br/>
            <a:r>
              <a:t>Recurring revenue attached to every unit.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5303520" cy="1691640"/>
          </a:xfrm>
          <a:prstGeom prst="rect">
            <a:avLst/>
          </a:prstGeom>
          <a:solidFill>
            <a:srgbClr val="0D111C"/>
          </a:solidFill>
          <a:ln w="1270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5303520" cy="64008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336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0B4FF"/>
                </a:solidFill>
                <a:latin typeface="Helvetica"/>
              </a:defRPr>
            </a:pPr>
            <a:r>
              <a:t>SBIR GRANTS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44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$250K Phase I  →  $1M Phase 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Non-dilutive DoD validation capital.</a:t>
            </a:r>
            <a:br/>
            <a:r>
              <a:t>Army and SOCOM SBIRs both open now.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69080"/>
            <a:ext cx="5303520" cy="1691640"/>
          </a:xfrm>
          <a:prstGeom prst="rect">
            <a:avLst/>
          </a:prstGeom>
          <a:solidFill>
            <a:srgbClr val="0D111C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069080"/>
            <a:ext cx="5303520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336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9A9A9A"/>
                </a:solidFill>
                <a:latin typeface="Helvetica"/>
              </a:defRPr>
            </a:pPr>
            <a:r>
              <a:t>DEFENSE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44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Program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377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Long-term: become a budget line item.</a:t>
            </a:r>
            <a:br/>
            <a:r>
              <a:t>Higher margin, multi-year commitment.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MARKET —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Defense first. Then everywhere.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697480" cy="40233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974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NOW → Q4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Helvetica"/>
              </a:defRPr>
            </a:pPr>
            <a:r>
              <a:t>B2B2G — CHARIOT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Chariot Defense: $41M raised, a16z-backed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Offered to fund prototype + purchase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4281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Joint JIFX demo (Camp Roberts, NPS) — free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01184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Goal: LOI signed, prototype delivered to Chariot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103120"/>
            <a:ext cx="2697480" cy="40233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103120"/>
            <a:ext cx="2697480" cy="64008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24028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Q1–Q3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4203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0B4FF"/>
                </a:solidFill>
                <a:latin typeface="Helvetica"/>
              </a:defRPr>
            </a:pPr>
            <a:r>
              <a:t>SBIR + SOFWERX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8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Army SBIR Phase I — $250K (open now)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84448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DARPA ExPEDitions — abstracts due June 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4281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SOFWERX → direct SOCOM operator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01184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Goal: $400K+ non-dilutive, first operator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2103120"/>
            <a:ext cx="2697480" cy="40233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103120"/>
            <a:ext cx="269748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19" y="224028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Q4 2027+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19" y="254203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Helvetica"/>
              </a:defRPr>
            </a:pPr>
            <a:r>
              <a:t>DIRECT DoD (OTA)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19" y="292608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OTA Prototype Agreement — bypasses FAR entirely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19" y="3584448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Program of Record in Army or SOCOM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19" y="424281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FMS to NATO allies via US government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4901184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Goal: multi-year budget line item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19" y="2103120"/>
            <a:ext cx="2697480" cy="40233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19" y="2103120"/>
            <a:ext cx="2697480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79" y="224028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2028+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79" y="254203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9A9A9A"/>
                </a:solidFill>
                <a:latin typeface="Helvetica"/>
              </a:defRPr>
            </a:pPr>
            <a:r>
              <a:t>COMMERCIAL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79" y="2926080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Defense validation = proof for commercial buyers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79" y="3584448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Swarmbotics AI fleet (250+ UGVs, Army contract)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79" y="424281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Disaster relief: FEMA, Red Cross, state agencies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79" y="4901184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Goal: $10M+ ARR beyond DoD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MARKET —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A $10B+ market with a $800M beachhead.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611880" cy="2560320"/>
          </a:xfrm>
          <a:prstGeom prst="rect">
            <a:avLst/>
          </a:prstGeom>
          <a:solidFill>
            <a:srgbClr val="0D111C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97316"/>
                </a:solidFill>
                <a:latin typeface="Helvetica"/>
              </a:defRPr>
            </a:pPr>
            <a:r>
              <a:t>$5–8B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Military field power for autonomous</a:t>
            </a:r>
            <a:br/>
            <a:r>
              <a:t>systems (expeditionary + UGV charging)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3611880" cy="2560320"/>
          </a:xfrm>
          <a:prstGeom prst="rect">
            <a:avLst/>
          </a:prstGeom>
          <a:solidFill>
            <a:srgbClr val="0D111C"/>
          </a:solidFill>
          <a:ln w="1905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00B4FF"/>
                </a:solidFill>
                <a:latin typeface="Helvetica"/>
              </a:defRPr>
            </a:pPr>
            <a:r>
              <a:t>$50–200M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B2B2G via defense battery companies</a:t>
            </a:r>
            <a:br/>
            <a:r>
              <a:t>serving DoD — US market, 5-year horizon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611880" cy="2560320"/>
          </a:xfrm>
          <a:prstGeom prst="rect">
            <a:avLst/>
          </a:prstGeom>
          <a:solidFill>
            <a:srgbClr val="0D111C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22C55E"/>
                </a:solidFill>
                <a:latin typeface="Helvetica"/>
              </a:defRPr>
            </a:pPr>
            <a:r>
              <a:t>$25M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9184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SOM — Year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1188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30–100 units via Chariot Defense +</a:t>
            </a:r>
            <a:br/>
            <a:r>
              <a:t>direct SOCOM OTAs at $150–250K ASP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9A9A9A"/>
                </a:solidFill>
                <a:latin typeface="Helvetica"/>
              </a:defRPr>
            </a:pPr>
            <a:r>
              <a:t>Channel math (Chariot Defense alone):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▸  Chariot Defense: ~300 systems/year  ·  1/3 need field recharging  =  ~100 units/year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052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▸  100 units × $150–250K ASP  =  $15–25M/year from a single channel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5274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▸  Pentagon autonomy budget: $13.4B (FY2026)  →  $54B (FY2027 proposal)  ·  7.88% CAGR military robotics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WHY US —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No direct competitor. White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No product today autonomously taps a power line and delivers energy via tether to the 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0789920" cy="384048"/>
          </a:xfrm>
          <a:prstGeom prst="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4203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WHAT THEY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54203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4203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Helvetica"/>
              </a:defRPr>
            </a:pPr>
            <a:r>
              <a:t>KEY 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10789920" cy="484632"/>
          </a:xfrm>
          <a:prstGeom prst="rect">
            <a:avLst/>
          </a:prstGeom>
          <a:solidFill>
            <a:srgbClr val="0D1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00B4FF"/>
                </a:solidFill>
                <a:latin typeface="Helvetica"/>
              </a:defRPr>
            </a:pPr>
            <a:r>
              <a:t>WIREBIRD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53512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Power line → induction → tether → ground 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53512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Pre-seed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53512"/>
            <a:ext cx="36575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"/>
              </a:defRPr>
            </a:pPr>
            <a:r>
              <a:t>✓  UNIQUE — NO EQUIVALENT EXISTS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64992"/>
            <a:ext cx="10789920" cy="484632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65576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Hoverfly Tech.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6557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Tethered drone kept aloft by ground power (inverse)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46557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$14M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65576"/>
            <a:ext cx="36575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Power flows up to drone — opposite direction. Not a competitor.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77056"/>
            <a:ext cx="10789920" cy="484632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Elistair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7764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Tethered drone on UGV for ISR / comms relay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7764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€3M+ contracts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977640"/>
            <a:ext cx="36575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Same UGV+drone use case — but no power line harvesting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9120"/>
            <a:ext cx="10789920" cy="484632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8970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Nomadic Drones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489704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Drone perches on power lines to recharge itself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489704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Pre-revenue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489704"/>
            <a:ext cx="36575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Civilian inspection only — no ground delivery via tether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01184"/>
            <a:ext cx="10789920" cy="484632"/>
          </a:xfrm>
          <a:prstGeom prst="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0176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Helvetica"/>
              </a:defRPr>
            </a:pPr>
            <a:r>
              <a:t>Diesel Generators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001768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Standard MEP generator sets — the incumbent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001768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Incumbent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001768"/>
            <a:ext cx="36575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9A9A9A"/>
                </a:solidFill>
                <a:latin typeface="Helvetica"/>
              </a:defRPr>
            </a:pPr>
            <a:r>
              <a:t>Fuel-dependent, loud, 1-in-24 convoy casualty rate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WHY US —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Built to prototype, sell, and win SBIR contracts.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611880" cy="3977639"/>
          </a:xfrm>
          <a:prstGeom prst="rect">
            <a:avLst/>
          </a:prstGeom>
          <a:solidFill>
            <a:srgbClr val="0D111C"/>
          </a:solidFill>
          <a:ln w="1270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11880" cy="64008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ANIS CHERIET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Co-Founder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Operator — CEO-track, commercial and technical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9359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Leads fundraising, GTM strategy, investor 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06824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Applied to YC, Speedrun, Founders Inc (selected)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005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Driving pre-seed close and SBIR applications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03120"/>
            <a:ext cx="3611880" cy="3977639"/>
          </a:xfrm>
          <a:prstGeom prst="rect">
            <a:avLst/>
          </a:prstGeom>
          <a:solidFill>
            <a:srgbClr val="0D111C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6118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240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CHRISTOPHER REDFEARN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6032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Co-Founder &amp; Hardware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80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Power electronics and embedded systems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9359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Owns the prototype: inductive harvesting + tether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06824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Responsible for BOM, suppliers, bench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02005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Certs path: UL, FCC, military qualification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103120"/>
            <a:ext cx="3611880" cy="3977639"/>
          </a:xfrm>
          <a:prstGeom prst="rect">
            <a:avLst/>
          </a:prstGeom>
          <a:solidFill>
            <a:srgbClr val="0D111C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361188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2402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STEVE MACENSKI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60320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Technical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803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Maintainer of Nav2 — the most widely deployed</a:t>
            </a:r>
            <a:br/>
            <a:r>
              <a:t>open-source robotics navigation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59359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Advises on autonomy: perch + locate algorithms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06824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Intro pathway to robotics / defense tech ecosystem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02005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·  Advisor-track, not co-developer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172200"/>
            <a:ext cx="10698480" cy="411480"/>
          </a:xfrm>
          <a:prstGeom prst="rect">
            <a:avLst/>
          </a:prstGeom>
          <a:solidFill>
            <a:srgbClr val="0D1F0D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2453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Backed by: Founders Inc Accelerator  ·  Demo Day completed May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WHY US —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OUR UNFAIR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The moat is bigger than it looks.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5394960" cy="1737360"/>
          </a:xfrm>
          <a:prstGeom prst="rect">
            <a:avLst/>
          </a:prstGeom>
          <a:solidFill>
            <a:srgbClr val="0D111C"/>
          </a:solidFill>
          <a:ln w="1270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5394960" cy="64008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0B4FF"/>
                </a:solidFill>
                <a:latin typeface="Helvetica"/>
              </a:defRPr>
            </a:pPr>
            <a:r>
              <a:t>WHITE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87752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No direct competitor exists. Inductive tap + tether delivery is a novel combination. We are not iterating on existing products — we are creating a new category.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57400"/>
            <a:ext cx="5394960" cy="1737360"/>
          </a:xfrm>
          <a:prstGeom prst="rect">
            <a:avLst/>
          </a:prstGeom>
          <a:solidFill>
            <a:srgbClr val="0D111C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57400"/>
            <a:ext cx="539496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Helvetica"/>
              </a:defRPr>
            </a:pPr>
            <a:r>
              <a:t>7.3M KM OF INFRASTRUCTURE ALREADY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87752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Every operational theater, every disaster zone, every remote site already has the infrastructure. Power lines are the moat — and they're everywhere.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394960" cy="1737360"/>
          </a:xfrm>
          <a:prstGeom prst="rect">
            <a:avLst/>
          </a:prstGeom>
          <a:solidFill>
            <a:srgbClr val="0D111C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539496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Helvetica"/>
              </a:defRPr>
            </a:pPr>
            <a:r>
              <a:t>PHYSICS DEFENSIBILITY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53712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Inductive harvesting from AC transmission lines is a specific, patentable approach. File provisional patent before any public demo. The physics creates the moat.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394960" cy="1737360"/>
          </a:xfrm>
          <a:prstGeom prst="rect">
            <a:avLst/>
          </a:prstGeom>
          <a:solidFill>
            <a:srgbClr val="0D111C"/>
          </a:solidFill>
          <a:ln w="12700">
            <a:solidFill>
              <a:srgbClr val="FC3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5394960" cy="64008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C3D21"/>
                </a:solidFill>
                <a:latin typeface="Helvetica"/>
              </a:defRPr>
            </a:pPr>
            <a:r>
              <a:t>DEFENSE-FIRST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53712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SBIR grants validate the technology non-dilutively with DoD credibility. That validation becomes the proof point that closes commercial buyers — and triggers acquisition interest from primes.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ASK —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MILESTONES &amp;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"/>
              </a:defRPr>
            </a:pPr>
            <a:r>
              <a:t>18 months to seed-raise 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698480" cy="53949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LOIs Initiated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402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Defense integrators and fleet operators outreach started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10698480" cy="539496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OCT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0720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Working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0720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Bench-validated unit. Inductive harvest confirmed. Video demo.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36976"/>
            <a:ext cx="10698480" cy="53949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7413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DEC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7413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2–3 LOIs 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74136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Letters of intent. Pricing confirmed at $35–80K range.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03904"/>
            <a:ext cx="10698480" cy="539496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4106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JAN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4106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SBIR Phase I Awarded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4106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$250K (Army) + $150K (SOCOM). Non-dilutive validation capital.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1"/>
            <a:ext cx="10698480" cy="53949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07991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JUN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507991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First Paid Pilots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07991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2–3 units deployed. $60–240K revenue. Case study with real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10698480" cy="539496"/>
          </a:xfrm>
          <a:prstGeom prst="rect">
            <a:avLst/>
          </a:prstGeom>
          <a:solidFill>
            <a:srgbClr val="10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Q3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074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$100–200K ARR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74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5–8 units contracted. Recurring service revenue. Seed round launched.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04688"/>
            <a:ext cx="10698480" cy="539496"/>
          </a:xfrm>
          <a:prstGeom prst="rect">
            <a:avLst/>
          </a:prstGeom>
          <a:solidFill>
            <a:srgbClr val="0D1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418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Helvetica"/>
              </a:defRPr>
            </a:pPr>
            <a:r>
              <a:t>2028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64184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$2–4M ARR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64184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D4D4D4"/>
                </a:solidFill>
                <a:latin typeface="Helvetica"/>
              </a:defRPr>
            </a:pPr>
            <a:r>
              <a:t>20–50 units/year. Certifications complete. Moon SKU R&amp;D begins.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ASK —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Helvetica"/>
              </a:defRPr>
            </a:pPr>
            <a: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Raising $1.75M pre-seed.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t>18 months of runway. Takes us to seed-raise ready with first paid pilots.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669280" cy="34290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Prototype +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546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$200K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529584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844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First pilot units (2–3)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844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$100K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59352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Founder salaries (18 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1421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$300K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89120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4398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SBIR + IP filing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4398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$50K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818888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7375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Ops + certifications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87375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$175K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48656"/>
            <a:ext cx="5120640" cy="635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Buffer (15%)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303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$75K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687568"/>
            <a:ext cx="5120640" cy="190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833872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83387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F97316"/>
                </a:solidFill>
                <a:latin typeface="Helvetica"/>
              </a:defRPr>
            </a:pPr>
            <a:r>
              <a:t>$900K–$1.75M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651760"/>
            <a:ext cx="5120640" cy="3429000"/>
          </a:xfrm>
          <a:prstGeom prst="rect">
            <a:avLst/>
          </a:prstGeom>
          <a:solidFill>
            <a:srgbClr val="0D111C"/>
          </a:solidFill>
          <a:ln w="12700">
            <a:solidFill>
              <a:srgbClr val="00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7889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0B4FF"/>
                </a:solidFill>
                <a:latin typeface="Helvetica"/>
              </a:defRPr>
            </a:pPr>
            <a:r>
              <a:t>THIS ROUND FUNDS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236976"/>
            <a:ext cx="457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321868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Working prototype by Month 4 (Oct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694176"/>
            <a:ext cx="457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367588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2–3 LOIs signed by Month 6 (Dec 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151376"/>
            <a:ext cx="457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13308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SBIR Phase I application submitted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4608576"/>
            <a:ext cx="457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459028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First paid pilots by Month 12 (Jun 2027)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5065776"/>
            <a:ext cx="45720" cy="2743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504748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$100–200K ARR by Month 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5522976"/>
            <a:ext cx="45720" cy="27432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5504688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00B4FF"/>
                </a:solidFill>
                <a:latin typeface="Helvetica"/>
              </a:defRPr>
            </a:pPr>
            <a:r>
              <a:t>→ Seed-raise ready at $10–14M post-money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WIREBIRD AEROSPACE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wirebird.space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