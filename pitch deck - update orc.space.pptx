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8" r:id="rId6"/>
    <p:sldId id="259" r:id="rId7"/>
    <p:sldId id="260" r:id="rId8"/>
    <p:sldId id="269" r:id="rId9"/>
    <p:sldId id="27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77"/>
    <p:restoredTop sz="94643"/>
  </p:normalViewPr>
  <p:slideViewPr>
    <p:cSldViewPr snapToGrid="0" snapToObjects="1">
      <p:cViewPr>
        <p:scale>
          <a:sx n="51" d="100"/>
          <a:sy n="51" d="100"/>
        </p:scale>
        <p:origin x="776" y="1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iedmarketresearch.com/robot-charging-station-market-A323797" TargetMode="External"/><Relationship Id="rId2" Type="http://schemas.openxmlformats.org/officeDocument/2006/relationships/hyperlink" Target="https://www.abiresearch.com/press/mobile-robots-set-to-reach-28-million-shipments-by-2030-as-applications-expand-across-industries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earthr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45720" cy="365760"/>
          </a:xfrm>
          <a:prstGeom prst="rect">
            <a:avLst/>
          </a:prstGeom>
          <a:solidFill>
            <a:srgbClr val="FC3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438912"/>
            <a:ext cx="350176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rPr spc="300" dirty="0"/>
              <a:t>MISSION BRIEF —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13204"/>
            <a:ext cx="54864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 dirty="0"/>
              <a:t>SAN FRANCISCO, 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06" y="1926369"/>
            <a:ext cx="5364481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200" b="1">
                <a:solidFill>
                  <a:srgbClr val="FFFFFF"/>
                </a:solidFill>
                <a:latin typeface="Helvetica"/>
              </a:defRPr>
            </a:pPr>
            <a:r>
              <a:rPr lang="en-US" sz="2800" spc="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Chargebotc</a:t>
            </a:r>
            <a:endParaRPr sz="4400" spc="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1247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Helvetica"/>
              </a:defRPr>
            </a:pPr>
            <a:r>
              <a:rPr spc="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EMPOWERING ROBOTS </a:t>
            </a:r>
            <a:r>
              <a:rPr lang="en-US" spc="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 THE MOON</a:t>
            </a:r>
            <a:endParaRPr spc="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5401606"/>
            <a:ext cx="234198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500" dirty="0"/>
              <a:t>BACKED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01 / 09</a:t>
            </a:r>
          </a:p>
        </p:txBody>
      </p:sp>
      <p:pic>
        <p:nvPicPr>
          <p:cNvPr id="1030" name="Picture 6" descr="LaLoka Labs LLC Joins NVIDIA Inception Program - LaLoka Labs">
            <a:extLst>
              <a:ext uri="{FF2B5EF4-FFF2-40B4-BE49-F238E27FC236}">
                <a16:creationId xmlns:a16="http://schemas.microsoft.com/office/drawing/2014/main" id="{24C4B920-C5EC-41FF-38A2-EBE43B7EE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597" y="5857067"/>
            <a:ext cx="1845758" cy="81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ounders Inc. Unveils 'Ship It'">
            <a:extLst>
              <a:ext uri="{FF2B5EF4-FFF2-40B4-BE49-F238E27FC236}">
                <a16:creationId xmlns:a16="http://schemas.microsoft.com/office/drawing/2014/main" id="{CE3FE4A6-8659-A0C9-323D-28018E6C1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04" b="28805"/>
          <a:stretch/>
        </p:blipFill>
        <p:spPr bwMode="auto">
          <a:xfrm>
            <a:off x="538130" y="5956389"/>
            <a:ext cx="2125303" cy="71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ounders, Inc. | LinkedIn">
            <a:extLst>
              <a:ext uri="{FF2B5EF4-FFF2-40B4-BE49-F238E27FC236}">
                <a16:creationId xmlns:a16="http://schemas.microsoft.com/office/drawing/2014/main" id="{F456E5C0-05F1-7429-F250-169F0B70B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068" y="5956389"/>
            <a:ext cx="999861" cy="711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8713" t="18583" r="10079" b="9270"/>
          <a:stretch/>
        </p:blipFill>
        <p:spPr>
          <a:xfrm>
            <a:off x="5422564" y="1146234"/>
            <a:ext cx="6769436" cy="5354367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</p:pic>
      <p:sp>
        <p:nvSpPr>
          <p:cNvPr id="3" name="Rectangle 2"/>
          <p:cNvSpPr/>
          <p:nvPr/>
        </p:nvSpPr>
        <p:spPr>
          <a:xfrm>
            <a:off x="5029200" y="0"/>
            <a:ext cx="71628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34993"/>
            <a:ext cx="45720" cy="365760"/>
          </a:xfrm>
          <a:prstGeom prst="rect">
            <a:avLst/>
          </a:prstGeom>
          <a:solidFill>
            <a:srgbClr val="FC3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4192" y="416705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rPr spc="300" dirty="0"/>
              <a:t>HAZARD —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192" y="61787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 dirty="0"/>
              <a:t>THE ENERGY BOTTLENECK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93992"/>
            <a:ext cx="5486400" cy="1415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Energy kills</a:t>
            </a:r>
            <a:br>
              <a:rPr dirty="0"/>
            </a:br>
            <a:r>
              <a:rPr dirty="0"/>
              <a:t>lunar 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188" y="2742944"/>
            <a:ext cx="4356628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rPr sz="1600" dirty="0"/>
              <a:t>Humanity must establish a lunar presence within 5 years. Robots get there first but without reliable power, they freeze, stall, </a:t>
            </a:r>
            <a:r>
              <a:rPr dirty="0"/>
              <a:t>and</a:t>
            </a:r>
            <a:r>
              <a:rPr sz="1600" dirty="0"/>
              <a:t> strand operations within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58353"/>
            <a:ext cx="1645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C3D21"/>
                </a:solidFill>
                <a:latin typeface="Helvetica"/>
              </a:defRPr>
            </a:pPr>
            <a:r>
              <a:rPr spc="300" dirty="0">
                <a:solidFill>
                  <a:srgbClr val="92D050"/>
                </a:solidFill>
              </a:rPr>
              <a:t>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4458353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Max rover survival during lunar 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961273"/>
            <a:ext cx="1645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C3D21"/>
                </a:solidFill>
                <a:latin typeface="Helvetica"/>
              </a:defRPr>
            </a:pPr>
            <a:r>
              <a:rPr spc="300" dirty="0">
                <a:solidFill>
                  <a:srgbClr val="92D050"/>
                </a:solidFill>
              </a:rPr>
              <a:t>−173 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8400" y="4961273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Temperature extremes that kill batteries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464193"/>
            <a:ext cx="1645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C3D21"/>
                </a:solidFill>
                <a:latin typeface="Helvetica"/>
              </a:defRPr>
            </a:pPr>
            <a:r>
              <a:rPr spc="300">
                <a:solidFill>
                  <a:srgbClr val="92D050"/>
                </a:solidFill>
              </a:rPr>
              <a:t>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5464193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rPr dirty="0"/>
              <a:t>Exploration range tethered to landers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F9D6AD-A7FD-0C20-81B1-3814EA97F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234" y="1771316"/>
            <a:ext cx="6444096" cy="3913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5AFEC-EB48-684F-B5DF-08F86273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201281-25EE-2814-89AC-66F2414BBCB4}"/>
              </a:ext>
            </a:extLst>
          </p:cNvPr>
          <p:cNvSpPr/>
          <p:nvPr/>
        </p:nvSpPr>
        <p:spPr>
          <a:xfrm>
            <a:off x="384048" y="397383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3DE0F7-2655-DBF7-9536-627B65B80728}"/>
              </a:ext>
            </a:extLst>
          </p:cNvPr>
          <p:cNvSpPr txBox="1"/>
          <p:nvPr/>
        </p:nvSpPr>
        <p:spPr>
          <a:xfrm>
            <a:off x="548640" y="4121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/>
              <a:t>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BBA0F-34FF-0D40-3CF7-4C8EDFD2DD1C}"/>
              </a:ext>
            </a:extLst>
          </p:cNvPr>
          <p:cNvSpPr txBox="1"/>
          <p:nvPr/>
        </p:nvSpPr>
        <p:spPr>
          <a:xfrm>
            <a:off x="429768" y="829199"/>
            <a:ext cx="67818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Helvetica"/>
              </a:defRPr>
            </a:pPr>
            <a:r>
              <a:rPr lang="fr-FR" dirty="0" err="1"/>
              <a:t>MoonPAD</a:t>
            </a:r>
            <a:r>
              <a:rPr lang="fr-FR" dirty="0"/>
              <a:t> drones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C8E13E-AE39-FD52-6117-BCA1C152D06A}"/>
              </a:ext>
            </a:extLst>
          </p:cNvPr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E285F7-8DF6-3936-DE57-AF9A3DCDF4A0}"/>
              </a:ext>
            </a:extLst>
          </p:cNvPr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D5C66E-7425-15F8-1257-FF62A223A781}"/>
              </a:ext>
            </a:extLst>
          </p:cNvPr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48076C-546C-1ACE-6189-51859082F098}"/>
              </a:ext>
            </a:extLst>
          </p:cNvPr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03 / 09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584E41-B6AA-02E2-23EF-4D6AABF36660}"/>
              </a:ext>
            </a:extLst>
          </p:cNvPr>
          <p:cNvSpPr txBox="1"/>
          <p:nvPr/>
        </p:nvSpPr>
        <p:spPr>
          <a:xfrm>
            <a:off x="182963" y="2076086"/>
            <a:ext cx="621775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</a:rPr>
              <a:t>Deploy highly mobile </a:t>
            </a:r>
            <a:r>
              <a:rPr lang="en-US" b="1" dirty="0" err="1">
                <a:solidFill>
                  <a:schemeClr val="bg1"/>
                </a:solidFill>
                <a:effectLst/>
              </a:rPr>
              <a:t>MoonPad</a:t>
            </a:r>
            <a:r>
              <a:rPr lang="en-US" b="1" dirty="0">
                <a:solidFill>
                  <a:schemeClr val="bg1"/>
                </a:solidFill>
                <a:effectLst/>
              </a:rPr>
              <a:t> hoppers</a:t>
            </a:r>
            <a:r>
              <a:rPr lang="en-US" dirty="0">
                <a:solidFill>
                  <a:schemeClr val="bg1"/>
                </a:solidFill>
                <a:effectLst/>
              </a:rPr>
              <a:t> over the lunar South Pole in a single launch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</a:rPr>
              <a:t>Hoppers land themselves and operate independently 		</a:t>
            </a:r>
            <a:r>
              <a:rPr lang="en-US" b="1" dirty="0">
                <a:solidFill>
                  <a:schemeClr val="bg1"/>
                </a:solidFill>
                <a:effectLst/>
              </a:rPr>
              <a:t>Foldable structure</a:t>
            </a:r>
            <a:r>
              <a:rPr lang="en-US" dirty="0">
                <a:solidFill>
                  <a:schemeClr val="bg1"/>
                </a:solidFill>
                <a:effectLst/>
              </a:rPr>
              <a:t>  compact stowed, full range deployed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Battery payload</a:t>
            </a:r>
            <a:r>
              <a:rPr lang="en-US" dirty="0">
                <a:solidFill>
                  <a:schemeClr val="bg1"/>
                </a:solidFill>
                <a:effectLst/>
              </a:rPr>
              <a:t>  up to </a:t>
            </a:r>
            <a:r>
              <a:rPr lang="en-US" b="1" dirty="0">
                <a:solidFill>
                  <a:schemeClr val="bg1"/>
                </a:solidFill>
                <a:effectLst/>
              </a:rPr>
              <a:t>50 kWh</a:t>
            </a:r>
            <a:r>
              <a:rPr lang="en-US" dirty="0">
                <a:solidFill>
                  <a:schemeClr val="bg1"/>
                </a:solidFill>
                <a:effectLst/>
              </a:rPr>
              <a:t> delivered per trip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500 km total range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  <a:effectLst/>
              </a:rPr>
              <a:t>Hosts multiple payloads: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</a:rPr>
              <a:t>Bi-directional </a:t>
            </a:r>
            <a:r>
              <a:rPr lang="en-US" b="1" dirty="0">
                <a:solidFill>
                  <a:schemeClr val="bg1"/>
                </a:solidFill>
                <a:effectLst/>
              </a:rPr>
              <a:t>induction charging pad</a:t>
            </a:r>
            <a:r>
              <a:rPr lang="en-US" dirty="0">
                <a:solidFill>
                  <a:schemeClr val="bg1"/>
                </a:solidFill>
                <a:effectLst/>
              </a:rPr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effectLst/>
              </a:rPr>
              <a:t>Survive-the-night</a:t>
            </a:r>
            <a:r>
              <a:rPr lang="en-US" dirty="0">
                <a:solidFill>
                  <a:schemeClr val="bg1"/>
                </a:solidFill>
                <a:effectLst/>
              </a:rPr>
              <a:t> energy-banking demonstration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54DD03-712C-E32F-A61C-4E6D1FE23865}"/>
              </a:ext>
            </a:extLst>
          </p:cNvPr>
          <p:cNvSpPr txBox="1"/>
          <p:nvPr/>
        </p:nvSpPr>
        <p:spPr>
          <a:xfrm>
            <a:off x="9448800" y="48050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7" name="Picture 26" descr="A drawing of a windmill&#10;&#10;Description automatically generated">
            <a:extLst>
              <a:ext uri="{FF2B5EF4-FFF2-40B4-BE49-F238E27FC236}">
                <a16:creationId xmlns:a16="http://schemas.microsoft.com/office/drawing/2014/main" id="{878D0BE9-BD6E-C2F7-C7CD-6B868FF5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07" b="7341"/>
          <a:stretch/>
        </p:blipFill>
        <p:spPr>
          <a:xfrm>
            <a:off x="6400718" y="2076086"/>
            <a:ext cx="5161874" cy="336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0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4A71577-D0B1-7FBC-D4FF-F6D9BC66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0" r="2059" b="12806"/>
          <a:stretch/>
        </p:blipFill>
        <p:spPr>
          <a:xfrm>
            <a:off x="930371" y="375950"/>
            <a:ext cx="10300777" cy="470271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8F72715-3F6F-1B22-B637-0188A74C57DA}"/>
              </a:ext>
            </a:extLst>
          </p:cNvPr>
          <p:cNvSpPr txBox="1"/>
          <p:nvPr/>
        </p:nvSpPr>
        <p:spPr>
          <a:xfrm>
            <a:off x="2456329" y="5180202"/>
            <a:ext cx="7279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RAPID AUTONMOUS ENERGY </a:t>
            </a:r>
            <a:r>
              <a:rPr lang="en-US" sz="4000" b="1" dirty="0">
                <a:solidFill>
                  <a:schemeClr val="bg1"/>
                </a:solidFill>
              </a:rPr>
              <a:t>DELEVERY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89D57-5B10-283E-E342-78F97D9FB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CC707C2-85DE-A30B-3567-FD65F22F358A}"/>
              </a:ext>
            </a:extLst>
          </p:cNvPr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pic>
        <p:nvPicPr>
          <p:cNvPr id="4" name="Picture 3" descr="A vehicle on the moon&#10;&#10;Description automatically generated">
            <a:extLst>
              <a:ext uri="{FF2B5EF4-FFF2-40B4-BE49-F238E27FC236}">
                <a16:creationId xmlns:a16="http://schemas.microsoft.com/office/drawing/2014/main" id="{77A482A8-641F-79F5-6332-3203A9797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883"/>
          <a:stretch/>
        </p:blipFill>
        <p:spPr>
          <a:xfrm>
            <a:off x="1050692" y="762515"/>
            <a:ext cx="10090616" cy="507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7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w_cra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583" y="0"/>
            <a:ext cx="946678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73775" y="0"/>
            <a:ext cx="13716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VEHICLE —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/>
              <a:t>THE HOPPER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A charging station</a:t>
            </a:r>
            <a:br>
              <a:rPr dirty="0"/>
            </a:br>
            <a:r>
              <a:rPr dirty="0"/>
              <a:t>that comes to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rPr dirty="0"/>
              <a:t>A lightweight, foldable hopper that travels to stranded robots, delivers power, and returns to base to recharge.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114800"/>
            <a:ext cx="2606040" cy="9144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224528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Helvetica"/>
              </a:defRPr>
            </a:pPr>
            <a:r>
              <a:rPr spc="300" dirty="0"/>
              <a:t>50</a:t>
            </a:r>
            <a:r>
              <a:rPr lang="fr-FR" spc="300" dirty="0"/>
              <a:t>0°</a:t>
            </a:r>
            <a:r>
              <a:rPr spc="300" dirty="0"/>
              <a:t>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4515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Range per 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114800"/>
            <a:ext cx="2606040" cy="9144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422452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HARSH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4515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Operates in rough terrain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2606040" cy="9144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2760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967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Self-recharges at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166360"/>
            <a:ext cx="2606040" cy="91440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0" y="52760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Helvetica"/>
              </a:defRPr>
            </a:pPr>
            <a:r>
              <a:rPr spc="300" dirty="0"/>
              <a:t>FOLDABLE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69671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Fits any cockpit payload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04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rket_crescent_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745" y="0"/>
            <a:ext cx="7071055" cy="39885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94807" y="0"/>
            <a:ext cx="6781800" cy="4809744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TRAJECTORY —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/>
              <a:t>REVENUE &amp;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113" y="1339811"/>
            <a:ext cx="11277294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Helvetica"/>
              </a:defRPr>
            </a:pPr>
            <a:r>
              <a:rPr lang="en-US" dirty="0"/>
              <a:t>Earth today </a:t>
            </a:r>
            <a:r>
              <a:rPr lang="fr-FR" dirty="0"/>
              <a:t>										   </a:t>
            </a:r>
            <a:r>
              <a:rPr dirty="0"/>
              <a:t>Moon</a:t>
            </a:r>
            <a:r>
              <a:rPr lang="fr-FR" dirty="0"/>
              <a:t> </a:t>
            </a:r>
            <a:r>
              <a:rPr dirty="0"/>
              <a:t>by 2029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4620"/>
            <a:ext cx="88239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t>Bootstrap revenue on Earth with general-purpose charging stations. Activate lunar market starting 2029.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943600"/>
            <a:ext cx="10332720" cy="12700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5760720"/>
            <a:ext cx="1005840" cy="1828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4132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t>$1M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16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200"/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5486400"/>
            <a:ext cx="1005840" cy="4572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5138928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$8</a:t>
            </a:r>
            <a:r>
              <a:rPr lang="fr-FR" dirty="0"/>
              <a:t>0</a:t>
            </a:r>
            <a:r>
              <a:rPr dirty="0"/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016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200"/>
              <a:t>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5120640"/>
            <a:ext cx="1005840" cy="8229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0" y="4773168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$30</a:t>
            </a:r>
            <a:r>
              <a:rPr lang="fr-FR" dirty="0"/>
              <a:t>0</a:t>
            </a:r>
            <a:r>
              <a:rPr dirty="0"/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016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200"/>
              <a:t>2028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4709160"/>
            <a:ext cx="1005840" cy="1234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4361688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$100</a:t>
            </a:r>
            <a:r>
              <a:rPr lang="fr-FR" dirty="0"/>
              <a:t>0</a:t>
            </a:r>
            <a:r>
              <a:rPr dirty="0"/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6016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200"/>
              <a:t>2029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4251960"/>
            <a:ext cx="1005840" cy="1691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904488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$800</a:t>
            </a:r>
            <a:r>
              <a:rPr lang="fr-FR" dirty="0"/>
              <a:t>0</a:t>
            </a:r>
            <a:r>
              <a:rPr dirty="0"/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6016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200"/>
              <a:t>2030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3794760"/>
            <a:ext cx="1005840" cy="2148840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0" y="3447288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$</a:t>
            </a:r>
            <a:r>
              <a:rPr lang="fr-FR" dirty="0"/>
              <a:t>15</a:t>
            </a:r>
            <a:r>
              <a:rPr dirty="0"/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01675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9A9A9A"/>
                </a:solidFill>
                <a:latin typeface="Helvetica"/>
              </a:defRPr>
            </a:pPr>
            <a:r>
              <a:rPr spc="200"/>
              <a:t>2031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383280"/>
            <a:ext cx="32004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0B3D91"/>
                </a:solidFill>
                <a:latin typeface="Helvetica"/>
              </a:defRPr>
            </a:pPr>
            <a:r>
              <a:rPr spc="400" dirty="0">
                <a:solidFill>
                  <a:schemeClr val="bg1"/>
                </a:solidFill>
              </a:rPr>
              <a:t>◆ EARTH PHASE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383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◆ LUNAR ACTIVATION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05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86445-F8B6-1624-CBD5-AA8D7981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1FE8F1AC-9B9B-4124-5E82-F6424ADC2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536537"/>
            <a:ext cx="10287000" cy="57849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914EC90-40F6-A677-6DD8-D12CF95A8B4E}"/>
              </a:ext>
            </a:extLst>
          </p:cNvPr>
          <p:cNvSpPr txBox="1"/>
          <p:nvPr/>
        </p:nvSpPr>
        <p:spPr>
          <a:xfrm>
            <a:off x="2491740" y="6221434"/>
            <a:ext cx="882396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300" b="0">
                <a:solidFill>
                  <a:srgbClr val="D4D4D4"/>
                </a:solidFill>
                <a:latin typeface="Helvetica"/>
              </a:defRPr>
            </a:pPr>
            <a:r>
              <a:rPr lang="fr-FR" dirty="0"/>
              <a:t>Official NASA data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59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3345-A80D-C74E-9722-3678C63A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7B6A63-47A7-2347-8784-B9046BBB691D}"/>
              </a:ext>
            </a:extLst>
          </p:cNvPr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330AE-FDEC-7C3F-BC4D-053A7CF29D33}"/>
              </a:ext>
            </a:extLst>
          </p:cNvPr>
          <p:cNvSpPr txBox="1"/>
          <p:nvPr/>
        </p:nvSpPr>
        <p:spPr>
          <a:xfrm>
            <a:off x="713232" y="5303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OPERATION — 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6E262-A9BF-DE36-A623-88D68AAF1677}"/>
              </a:ext>
            </a:extLst>
          </p:cNvPr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 dirty="0"/>
              <a:t>EARTH BEACHHEAD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633B3-5F9D-6C6B-CE4E-C1102861C5E3}"/>
              </a:ext>
            </a:extLst>
          </p:cNvPr>
          <p:cNvSpPr txBox="1"/>
          <p:nvPr/>
        </p:nvSpPr>
        <p:spPr>
          <a:xfrm>
            <a:off x="548640" y="4848671"/>
            <a:ext cx="1763649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lang="fr-FR" dirty="0"/>
              <a:t>Phase 1 </a:t>
            </a:r>
            <a:endParaRPr dirty="0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772AEFA4-0273-231A-16FD-113A66373C04}"/>
              </a:ext>
            </a:extLst>
          </p:cNvPr>
          <p:cNvSpPr/>
          <p:nvPr/>
        </p:nvSpPr>
        <p:spPr>
          <a:xfrm>
            <a:off x="4503537" y="2933370"/>
            <a:ext cx="2826490" cy="2278411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E51DBB-849D-9580-CF63-B7DAA08C0476}"/>
              </a:ext>
            </a:extLst>
          </p:cNvPr>
          <p:cNvSpPr txBox="1"/>
          <p:nvPr/>
        </p:nvSpPr>
        <p:spPr>
          <a:xfrm>
            <a:off x="594360" y="2175510"/>
            <a:ext cx="201168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lang="fr-FR" dirty="0"/>
              <a:t>Phase 2 </a:t>
            </a:r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6D3265-22BC-F331-E9D3-A5837F2408E8}"/>
              </a:ext>
            </a:extLst>
          </p:cNvPr>
          <p:cNvSpPr txBox="1"/>
          <p:nvPr/>
        </p:nvSpPr>
        <p:spPr>
          <a:xfrm>
            <a:off x="7890860" y="5132129"/>
            <a:ext cx="41376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lang="en-US" sz="2000" b="0" i="0" dirty="0">
                <a:solidFill>
                  <a:schemeClr val="bg1"/>
                </a:solidFill>
                <a:effectLst/>
                <a:latin typeface="-apple-system"/>
              </a:rPr>
              <a:t>Be the default Integrated charging solution for autonomous robots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9264D-B17C-0A33-B4E8-25A0DF05C56E}"/>
              </a:ext>
            </a:extLst>
          </p:cNvPr>
          <p:cNvSpPr txBox="1"/>
          <p:nvPr/>
        </p:nvSpPr>
        <p:spPr>
          <a:xfrm>
            <a:off x="7773894" y="2171700"/>
            <a:ext cx="41514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lang="en-US" sz="2000" b="0" i="0" dirty="0">
                <a:solidFill>
                  <a:schemeClr val="bg1"/>
                </a:solidFill>
                <a:effectLst/>
                <a:latin typeface="-apple-system"/>
              </a:rPr>
              <a:t>Delivery energy to rovers, landers, and habitats on the lunar surface</a:t>
            </a:r>
            <a:endParaRPr lang="en-US" sz="2000" i="0" dirty="0">
              <a:solidFill>
                <a:schemeClr val="bg1"/>
              </a:solidFill>
              <a:effectLst/>
              <a:latin typeface="Helvetica Now Display" pitchFamily="2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1CAC421-5B3E-D31D-2E11-C400F3C436F8}"/>
              </a:ext>
            </a:extLst>
          </p:cNvPr>
          <p:cNvCxnSpPr>
            <a:cxnSpLocks/>
          </p:cNvCxnSpPr>
          <p:nvPr/>
        </p:nvCxnSpPr>
        <p:spPr>
          <a:xfrm flipV="1">
            <a:off x="3428060" y="3224850"/>
            <a:ext cx="0" cy="1695450"/>
          </a:xfrm>
          <a:prstGeom prst="straightConnector1">
            <a:avLst/>
          </a:prstGeom>
          <a:ln w="889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D459FAC-EF7A-7334-8E7A-733470BE04A1}"/>
              </a:ext>
            </a:extLst>
          </p:cNvPr>
          <p:cNvSpPr txBox="1"/>
          <p:nvPr/>
        </p:nvSpPr>
        <p:spPr>
          <a:xfrm>
            <a:off x="571500" y="5316795"/>
            <a:ext cx="1157097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lang="fr-FR" dirty="0" err="1"/>
              <a:t>Earth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574880-53E6-3083-64A5-241C79BC09A7}"/>
              </a:ext>
            </a:extLst>
          </p:cNvPr>
          <p:cNvSpPr txBox="1"/>
          <p:nvPr/>
        </p:nvSpPr>
        <p:spPr>
          <a:xfrm>
            <a:off x="594359" y="2643634"/>
            <a:ext cx="1157097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lang="fr-FR" dirty="0"/>
              <a:t>Moon  </a:t>
            </a:r>
            <a:endParaRPr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BBD8B5-CAED-9406-BA80-6272CF8023CA}"/>
              </a:ext>
            </a:extLst>
          </p:cNvPr>
          <p:cNvSpPr txBox="1"/>
          <p:nvPr/>
        </p:nvSpPr>
        <p:spPr>
          <a:xfrm>
            <a:off x="3753199" y="5327120"/>
            <a:ext cx="41376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(agriculture / AMR / UAV / defense / industrial / last-mile)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7F4A00-4F52-3F7F-466A-3036DBC0C5AF}"/>
              </a:ext>
            </a:extLst>
          </p:cNvPr>
          <p:cNvSpPr txBox="1"/>
          <p:nvPr/>
        </p:nvSpPr>
        <p:spPr>
          <a:xfrm>
            <a:off x="4712160" y="2171700"/>
            <a:ext cx="2650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NASA CLPS · Artemis · commercial lunar prime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869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20116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lang="fr-FR" spc="300" dirty="0"/>
              <a:t>phase</a:t>
            </a:r>
            <a:r>
              <a:rPr spc="300" dirty="0"/>
              <a:t> —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 dirty="0"/>
              <a:t>EARTH </a:t>
            </a:r>
            <a:r>
              <a:rPr lang="en-US" spc="400" dirty="0"/>
              <a:t>BEACHHEAD</a:t>
            </a:r>
            <a:endParaRPr spc="4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046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Become the </a:t>
            </a:r>
            <a:r>
              <a:rPr lang="fr-FR" dirty="0"/>
              <a:t>Plug &amp; Play </a:t>
            </a:r>
            <a:r>
              <a:rPr dirty="0"/>
              <a:t>charging</a:t>
            </a:r>
            <a:br>
              <a:rPr dirty="0"/>
            </a:br>
            <a:r>
              <a:rPr dirty="0"/>
              <a:t>for robots on Earth.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8280"/>
            <a:ext cx="936879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D4D4D4"/>
                </a:solidFill>
                <a:latin typeface="Helvetica"/>
              </a:defRPr>
            </a:pPr>
            <a:r>
              <a:rPr lang="en-US" sz="1600" b="0" i="0" dirty="0">
                <a:solidFill>
                  <a:srgbClr val="D0D0D0"/>
                </a:solidFill>
                <a:effectLst/>
                <a:latin typeface="Courier New" panose="02070309020205020404" pitchFamily="49" charset="0"/>
              </a:rPr>
              <a:t>A multipurpose charging station designed for the Nav2 ecosystem — the de facto navigation stack for mobile robots worldwide.</a:t>
            </a:r>
            <a:endParaRPr sz="1600" dirty="0"/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5486400" cy="246888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394960" cy="246888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400" dirty="0"/>
              <a:t>STRATEGIC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65564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Helvetica"/>
              </a:defRPr>
            </a:pPr>
            <a:r>
              <a:rPr spc="300" dirty="0"/>
              <a:t>NAV2 / ROS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80670"/>
            <a:ext cx="484632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rPr lang="en-US" sz="2000" b="0" i="1" dirty="0">
                <a:solidFill>
                  <a:srgbClr val="CCCCCC"/>
                </a:solidFill>
                <a:effectLst/>
                <a:latin typeface="-apple-system"/>
              </a:rPr>
              <a:t>Open-source standard powering mobile robots across agriculture, logistics, and defense. We ship a Nav2-compatible docking plugin plugs into any ROS 2 robot.</a:t>
            </a:r>
            <a:endParaRPr lang="en-US" sz="2000" dirty="0"/>
          </a:p>
        </p:txBody>
      </p:sp>
      <p:sp>
        <p:nvSpPr>
          <p:cNvPr id="21" name="Rectangle 20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9789F0-7E4C-4C34-CF01-C935C6DF8404}"/>
              </a:ext>
            </a:extLst>
          </p:cNvPr>
          <p:cNvSpPr txBox="1"/>
          <p:nvPr/>
        </p:nvSpPr>
        <p:spPr>
          <a:xfrm>
            <a:off x="6515686" y="3750274"/>
            <a:ext cx="214487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rPr lang="en-US" sz="2400" b="1" i="0" dirty="0">
                <a:solidFill>
                  <a:srgbClr val="CCCCCC"/>
                </a:solidFill>
                <a:effectLst/>
                <a:latin typeface="-apple-system"/>
              </a:rPr>
              <a:t>Steve </a:t>
            </a:r>
            <a:r>
              <a:rPr lang="en-US" sz="2000" b="1" i="0" dirty="0">
                <a:solidFill>
                  <a:srgbClr val="CCCCCC"/>
                </a:solidFill>
                <a:effectLst/>
                <a:latin typeface="-apple-system"/>
              </a:rPr>
              <a:t>Macenski</a:t>
            </a:r>
            <a:endParaRPr sz="2000" spc="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59EACB-618E-1A7F-FD53-872A0726ABCC}"/>
              </a:ext>
            </a:extLst>
          </p:cNvPr>
          <p:cNvSpPr txBox="1"/>
          <p:nvPr/>
        </p:nvSpPr>
        <p:spPr>
          <a:xfrm>
            <a:off x="6457873" y="4863327"/>
            <a:ext cx="4956888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rPr lang="en-US" sz="2000" b="0" i="1" dirty="0">
                <a:solidFill>
                  <a:srgbClr val="CCCCCC"/>
                </a:solidFill>
                <a:effectLst/>
                <a:latin typeface="-apple-system"/>
              </a:rPr>
              <a:t>Advises us on technical direction and go-to-market into the robotics community</a:t>
            </a:r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C22749-1AC8-D6AC-D645-8DF4F4D9F56E}"/>
              </a:ext>
            </a:extLst>
          </p:cNvPr>
          <p:cNvSpPr txBox="1"/>
          <p:nvPr/>
        </p:nvSpPr>
        <p:spPr>
          <a:xfrm>
            <a:off x="6423507" y="4042118"/>
            <a:ext cx="4915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TECHNICAL </a:t>
            </a:r>
            <a:r>
              <a:rPr lang="en-US" sz="1400" b="1" i="0" dirty="0">
                <a:solidFill>
                  <a:srgbClr val="CCCCCC"/>
                </a:solidFill>
                <a:effectLst/>
                <a:latin typeface="-apple-system"/>
              </a:rPr>
              <a:t>ADVISOR</a:t>
            </a:r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 — NAV2 LEAD MAINTAINER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MARKET —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 dirty="0"/>
              <a:t>GENERAL-PURPOSE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210" y="1135167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$35K plug-and-play.</a:t>
            </a:r>
            <a:br>
              <a:rPr dirty="0"/>
            </a:br>
            <a:r>
              <a:rPr dirty="0"/>
              <a:t>Every robotics vertical.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210" y="644652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07 / 09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DD3E1B-DFA4-5802-090E-D67BF61BCAD7}"/>
              </a:ext>
            </a:extLst>
          </p:cNvPr>
          <p:cNvSpPr txBox="1"/>
          <p:nvPr/>
        </p:nvSpPr>
        <p:spPr>
          <a:xfrm>
            <a:off x="346210" y="483203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SOM — $25M–$75M 2028 revenue</a:t>
            </a: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 (1–3% SAM capture)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Low: 1% SAM → $25M, ~700 stations cumulative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High: 3% SAM → $75M, ~2,000 stations + SaaS tail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High case actually exceeds your current deck's $30M/2028 trajectory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F5D348-0057-FC80-1F7C-CF725C5EA447}"/>
              </a:ext>
            </a:extLst>
          </p:cNvPr>
          <p:cNvSpPr txBox="1"/>
          <p:nvPr/>
        </p:nvSpPr>
        <p:spPr>
          <a:xfrm>
            <a:off x="346210" y="3850449"/>
            <a:ext cx="134723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SAM — ~$3.5B/year by 2030</a:t>
            </a: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 (Nav2-compatible AMR fleet charging)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Math: 2.79M AMR shipments/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-apple-system"/>
              </a:rPr>
              <a:t>yr</a:t>
            </a: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 by 2030 (ABI Research, Nov 2024) × 25% ROS 2 / Nav2-addressable × $5K avg charging-infra spend per robot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ABI source: </a:t>
            </a: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  <a:hlinkClick r:id="rId2"/>
              </a:rPr>
              <a:t>abiresearch.com/press/mobile-robots-set-to-reach-28-million-shipments-by-2030</a:t>
            </a:r>
            <a:endParaRPr lang="en-US" b="0" i="0" dirty="0">
              <a:solidFill>
                <a:srgbClr val="CCCCCC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AFA940-5B76-57A3-A276-D8E980FAAAA9}"/>
              </a:ext>
            </a:extLst>
          </p:cNvPr>
          <p:cNvSpPr txBox="1"/>
          <p:nvPr/>
        </p:nvSpPr>
        <p:spPr>
          <a:xfrm>
            <a:off x="346210" y="2270335"/>
            <a:ext cx="80357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i="0" dirty="0">
                <a:solidFill>
                  <a:srgbClr val="CCCCCC"/>
                </a:solidFill>
                <a:effectLst/>
                <a:latin typeface="-apple-system"/>
              </a:rPr>
              <a:t>TAM — $33.3B by 2033</a:t>
            </a:r>
            <a:endParaRPr lang="en-US" b="0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Source: Allied Market Research, "Robot Charging Station Market," Sept 2024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15.8% CAGR from $7.8B (2023) 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URL: </a:t>
            </a: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  <a:hlinkClick r:id="rId3"/>
              </a:rPr>
              <a:t>alliedmarketresearch.com/robot-charging-station-market-A323797</a:t>
            </a:r>
            <a:endParaRPr lang="en-US" b="0" i="0" dirty="0">
              <a:solidFill>
                <a:srgbClr val="CCCCCC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-apple-system"/>
              </a:rPr>
              <a:t>Same order of magnitude as the current "$38B" but actually defensible in diligence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sk_hertzspru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3657600"/>
          </a:xfrm>
          <a:prstGeom prst="rect">
            <a:avLst/>
          </a:prstGeom>
          <a:solidFill>
            <a:srgbClr val="000000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C3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5303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rPr spc="300"/>
              <a:t>REQUEST —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/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Helvetica"/>
              </a:defRPr>
            </a:pPr>
            <a:r>
              <a:t>Raising $2.2M.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6–12 months to production and go-to-market.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5486400" cy="2834640"/>
          </a:xfrm>
          <a:prstGeom prst="rect">
            <a:avLst/>
          </a:prstGeom>
          <a:solidFill>
            <a:srgbClr val="0D111C">
              <a:alpha val="85000"/>
            </a:srgbClr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USE OF CAPITAL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Hardware R&amp;D &amp;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500" b="1">
                <a:solidFill>
                  <a:srgbClr val="FC3D21"/>
                </a:solidFill>
                <a:latin typeface="Helvetica"/>
              </a:defRPr>
            </a:pPr>
            <a: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Pilot deployments &amp; field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1605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500" b="1">
                <a:solidFill>
                  <a:srgbClr val="FC3D21"/>
                </a:solidFill>
                <a:latin typeface="Helvetica"/>
              </a:defRPr>
            </a:pPr>
            <a: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Engineering hires (HW + SW)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66344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500" b="1">
                <a:solidFill>
                  <a:srgbClr val="FC3D21"/>
                </a:solidFill>
                <a:latin typeface="Helvetica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Operations &amp; G&amp;A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1663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500" b="1">
                <a:solidFill>
                  <a:srgbClr val="FC3D21"/>
                </a:solidFill>
                <a:latin typeface="Helvetica"/>
              </a:defRPr>
            </a:pPr>
            <a:r>
              <a:t>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5394960" cy="2834640"/>
          </a:xfrm>
          <a:prstGeom prst="rect">
            <a:avLst/>
          </a:prstGeom>
          <a:solidFill>
            <a:srgbClr val="0D111C">
              <a:alpha val="85000"/>
            </a:srgbClr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WHAT $2.2M DELIVERS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C3D21"/>
                </a:solidFill>
                <a:latin typeface="Helvetica"/>
              </a:defRPr>
            </a:pPr>
            <a: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6758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Production-ready charging 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C3D21"/>
                </a:solidFill>
                <a:latin typeface="Helvetica"/>
              </a:defRPr>
            </a:pPr>
            <a: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0873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30 units built &amp; deployed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8056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C3D21"/>
                </a:solidFill>
                <a:latin typeface="Helvetica"/>
              </a:defRPr>
            </a:pPr>
            <a: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4988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Pre-orders from 3+ robotics OEMs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9204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C3D21"/>
                </a:solidFill>
                <a:latin typeface="Helvetica"/>
              </a:defRPr>
            </a:pPr>
            <a: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91032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Pilot data: agriculture + AMR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035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>
                <a:solidFill>
                  <a:srgbClr val="FC3D21"/>
                </a:solidFill>
                <a:latin typeface="Helvetica"/>
              </a:defRPr>
            </a:pPr>
            <a: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32180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Line of sight to Series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08 / 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48640"/>
            <a:ext cx="4572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300"/>
              <a:t>PERSONNEL —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31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Helvetica"/>
              </a:defRPr>
            </a:pPr>
            <a:r>
              <a:rPr spc="400"/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Helvetica"/>
              </a:defRPr>
            </a:pPr>
            <a:r>
              <a:t>Operators, builders &amp; advisors.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3566160" cy="2011680"/>
          </a:xfrm>
          <a:prstGeom prst="rect">
            <a:avLst/>
          </a:prstGeom>
          <a:solidFill>
            <a:srgbClr val="0D111C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566160" cy="73152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"/>
              </a:defRPr>
            </a:pPr>
            <a:r>
              <a:rPr spc="300"/>
              <a:t>ANIS CHERIET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CO-FOUNDER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Energy systems &amp; go-to-market.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3566160" cy="2011680"/>
          </a:xfrm>
          <a:prstGeom prst="rect">
            <a:avLst/>
          </a:prstGeom>
          <a:solidFill>
            <a:srgbClr val="0D111C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566160" cy="73152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"/>
              </a:defRPr>
            </a:pPr>
            <a:r>
              <a:rPr spc="300"/>
              <a:t>BO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375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ENGINEERING (EX-APPLE)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033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Left Apple to build Chargebotic hardware.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566160" cy="2011680"/>
          </a:xfrm>
          <a:prstGeom prst="rect">
            <a:avLst/>
          </a:prstGeom>
          <a:solidFill>
            <a:srgbClr val="0D111C"/>
          </a:solidFill>
          <a:ln w="12700">
            <a:solidFill>
              <a:srgbClr val="0B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560320"/>
            <a:ext cx="3566160" cy="73152"/>
          </a:xfrm>
          <a:prstGeom prst="rect">
            <a:avLst/>
          </a:prstGeom>
          <a:solidFill>
            <a:srgbClr val="FC3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4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Helvetica"/>
              </a:defRPr>
            </a:pPr>
            <a:r>
              <a:rPr spc="300" dirty="0"/>
              <a:t>STEVE MACENSKI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NAV2 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0332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>
                <a:solidFill>
                  <a:srgbClr val="D4D4D4"/>
                </a:solidFill>
                <a:latin typeface="Helvetica"/>
              </a:defRPr>
            </a:pPr>
            <a:r>
              <a:t>Lead maintainer — ROS 2 navigation stack.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3566160" cy="1280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rPr spc="300"/>
              <a:t>ARNE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132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rPr spc="400"/>
              <a:t>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Strategic guidance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754880"/>
            <a:ext cx="3566160" cy="1280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4983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rPr spc="300"/>
              <a:t>PATRICK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4132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rPr spc="400"/>
              <a:t>ADVISOR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715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Strategic guidance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754880"/>
            <a:ext cx="3566160" cy="1280160"/>
          </a:xfrm>
          <a:prstGeom prst="rect">
            <a:avLst/>
          </a:prstGeom>
          <a:solidFill>
            <a:srgbClr val="0D111C"/>
          </a:solidFill>
          <a:ln w="9525">
            <a:solidFill>
              <a:srgbClr val="222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49834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Helvetica"/>
              </a:defRPr>
            </a:pPr>
            <a:r>
              <a:rPr spc="300"/>
              <a:t>HADI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4132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>
                <a:solidFill>
                  <a:srgbClr val="FC3D21"/>
                </a:solidFill>
                <a:latin typeface="Helvetica"/>
              </a:defRPr>
            </a:pPr>
            <a:r>
              <a:rPr spc="400"/>
              <a:t>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715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>
                <a:solidFill>
                  <a:srgbClr val="D4D4D4"/>
                </a:solidFill>
                <a:latin typeface="Helvetica"/>
              </a:defRPr>
            </a:pPr>
            <a:r>
              <a:t>Strategic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F97316"/>
                </a:solidFill>
                <a:latin typeface="Helvetica"/>
              </a:defRPr>
            </a:pPr>
            <a:r>
              <a:rPr spc="400"/>
              <a:t>LET'S POWER THE NEXT CIVILIZATION   ·   anis@chargebotic.com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355080"/>
            <a:ext cx="11277295" cy="9525"/>
          </a:xfrm>
          <a:prstGeom prst="rect">
            <a:avLst/>
          </a:prstGeom>
          <a:solidFill>
            <a:srgbClr val="22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CHARGEBOTIC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4465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0">
                <a:solidFill>
                  <a:srgbClr val="555555"/>
                </a:solidFill>
                <a:latin typeface="Helvetica"/>
              </a:defRPr>
            </a:pPr>
            <a:r>
              <a:t>anis@chargebotic.com  ·  chargebotic.com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6446520"/>
            <a:ext cx="21332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00" b="1">
                <a:solidFill>
                  <a:srgbClr val="9A9A9A"/>
                </a:solidFill>
                <a:latin typeface="Helvetica"/>
              </a:defRPr>
            </a:pPr>
            <a:r>
              <a:rPr spc="400"/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871</Words>
  <Application>Microsoft Macintosh PowerPoint</Application>
  <PresentationFormat>Widescreen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Calibri</vt:lpstr>
      <vt:lpstr>Courier New</vt:lpstr>
      <vt:lpstr>Helvetica Now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 CHERIET</cp:lastModifiedBy>
  <cp:revision>3</cp:revision>
  <dcterms:created xsi:type="dcterms:W3CDTF">2013-01-27T09:14:16Z</dcterms:created>
  <dcterms:modified xsi:type="dcterms:W3CDTF">2026-04-22T22:18:42Z</dcterms:modified>
  <cp:category/>
</cp:coreProperties>
</file>