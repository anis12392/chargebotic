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RESEARCH BRIEF —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CONFIDENTIAL · DEFENSE SEGMENT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  <a:latin typeface="Helvetica"/>
              </a:defRPr>
            </a:pPr>
            <a:r>
              <a:t>DEFENSE</a:t>
            </a:r>
            <a:br/>
            <a:r>
              <a:t>MARKET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2743200" cy="25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Helvetica"/>
              </a:defRPr>
            </a:pPr>
            <a:r>
              <a:t>TETHERED POWERLINE DRONE — BATTLEFIELD ENERGY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  <a:latin typeface="Helvetica"/>
              </a:defRPr>
            </a:pPr>
            <a:r>
              <a:t>Who buys it. How many. What they need.</a:t>
            </a:r>
            <a:br/>
            <a:r>
              <a:t>Why now. How to reach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669280"/>
            <a:ext cx="12191695" cy="914400"/>
          </a:xfrm>
          <a:prstGeom prst="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715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$20B+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0807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DoD Annual Energy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715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$400/gal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60807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Fully Burdened Fuel Cost at FOB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715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60807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US Army Brigade Combat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715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60807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Direct Competitors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C3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C3D21"/>
                </a:solidFill>
                <a:latin typeface="Helvetica"/>
              </a:defRPr>
            </a:pPr>
            <a:r>
              <a:t>HAZARD —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THE ENERGY LOGISTICS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Helvetica"/>
              </a:defRPr>
            </a:pPr>
            <a:r>
              <a:t>Fuel logistics kills soldiers.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D4D4D4"/>
                </a:solidFill>
                <a:latin typeface="Helvetica"/>
              </a:defRPr>
            </a:pPr>
            <a:r>
              <a:t>Diesel generators dominate FOB power. Every gallon requires a convoy. Every convoy is a target.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2651760" cy="237744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C3D21"/>
                </a:solidFill>
                <a:latin typeface="Helvetica"/>
              </a:defRPr>
            </a:pPr>
            <a:r>
              <a:t>$400/gal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77240" y="4251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Fully burdened fuel cost</a:t>
            </a:r>
            <a:br/>
            <a:r>
              <a:t>at a remote FOB</a:t>
            </a:r>
            <a:br/>
            <a:r>
              <a:t>(vs. $3 at the pump)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926080"/>
            <a:ext cx="2651760" cy="237744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97316"/>
                </a:solidFill>
                <a:latin typeface="Helvetica"/>
              </a:defRPr>
            </a:pPr>
            <a:r>
              <a:t>$20B+/yr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8862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657600" y="4251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Total DoD spend on</a:t>
            </a:r>
            <a:br/>
            <a:r>
              <a:t>fuel and electricity</a:t>
            </a:r>
            <a:br/>
            <a:r>
              <a:t>annually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2926080"/>
            <a:ext cx="2651760" cy="237744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C3D21"/>
                </a:solidFill>
                <a:latin typeface="Helvetica"/>
              </a:defRPr>
            </a:pPr>
            <a:r>
              <a:t>1 in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8862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537959" y="4251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Fuel convoys that result</a:t>
            </a:r>
            <a:br/>
            <a:r>
              <a:t>in a casualty</a:t>
            </a:r>
            <a:br/>
            <a:r>
              <a:t>(Afghanistan data)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19" y="2926080"/>
            <a:ext cx="2651760" cy="237744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97316"/>
                </a:solidFill>
                <a:latin typeface="Helvetica"/>
              </a:defRPr>
            </a:pPr>
            <a:r>
              <a:t>70–80%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38862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418319" y="4251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Of convoy resupply weight</a:t>
            </a:r>
            <a:br/>
            <a:r>
              <a:t>that is fuel &amp; water —</a:t>
            </a:r>
            <a:br/>
            <a:r>
              <a:t>crowding out ammo &amp; food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▸  50%+ of all convoy casualties in Afghanistan in 2009 were tied to fuel resupply missions.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MARKET —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A $2–3B deployable power opportunity.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The broader military power market is $8–11B today. The relevant sub-segment (deployable off-grid tactical power) is $400M–$800M and growing fast.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10698480" cy="411480"/>
          </a:xfrm>
          <a:prstGeom prst="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620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8620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2024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620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2030–32 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8620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CAGR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10698480" cy="475488"/>
          </a:xfrm>
          <a:prstGeom prst="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Military Power Solutions (TAM)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$7.7B–$10.8B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91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$13.6B–$24.9B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2918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8.5–9.7%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10698480" cy="475488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Military Microgrid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7947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$2.0B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7947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High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7947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19.1%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10698480" cy="475488"/>
          </a:xfrm>
          <a:prstGeom prst="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Military DC Microgrid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2976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$700M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97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2976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09160"/>
            <a:ext cx="10698480" cy="475488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006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Power Generator for Military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8006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$1.2B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006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$1.7B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8006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3.8%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212080"/>
            <a:ext cx="10698480" cy="475488"/>
          </a:xfrm>
          <a:prstGeom prst="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3035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▸  CHARGEBOTIC SAM (deployable)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3035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Helvetica"/>
              </a:defRPr>
            </a:pPr>
            <a:r>
              <a:t>$400M–$800M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03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Helvetica"/>
              </a:defRPr>
            </a:pPr>
            <a:r>
              <a:t>$1.5B+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53035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Helvetica"/>
              </a:defRPr>
            </a:pPr>
            <a:r>
              <a:t>~15%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CUSTOMER —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US ARMY  ·  PRIMARY BUYER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The world's largest</a:t>
            </a:r>
            <a:br/>
            <a:r>
              <a:t>FOB operator.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486400" cy="356616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WHO THEY 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45720" cy="3474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72384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59 Brigade Combat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10128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32 active-duty + 27 National Guard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45720" cy="3474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21024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4,000–4,700 soldiers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58768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Per BCT, commanded by a Colonel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60520"/>
            <a:ext cx="45720" cy="3474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69664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Types: 14 Infantry, 11 Armored,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07408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7 Stryker — each runs its own FOB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09160"/>
            <a:ext cx="45720" cy="3474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18304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173,000 deployed abroad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56048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Across 750+ US bases in 80+ countries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68880"/>
            <a:ext cx="5303520" cy="356616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C3D21"/>
                </a:solidFill>
                <a:latin typeface="Helvetica"/>
              </a:defRPr>
            </a:pPr>
            <a:r>
              <a:t>PAIN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8036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BCTs operating near power infrastructure (CONUS training, Europe, Korea) still run diesel generators — because tapping power lines at scale is not currently possible.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576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HOW THEY 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233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▸  Army SBIR Phase I — $250K entry point (open RFP now)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0740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▸  Program Executive Office CS&amp;CSS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91456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▸  OTA (Other Transaction Authority) — faster pathway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1755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▸  Army Futures Command (AFC) — innovation arm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C3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C3D21"/>
                </a:solidFill>
                <a:latin typeface="Helvetica"/>
              </a:defRPr>
            </a:pPr>
            <a:r>
              <a:t>CUSTOMER —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USSOCOM  ·  HIGHEST PRIORITY BUYER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The fastest path. The most acute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D4D4D4"/>
                </a:solidFill>
                <a:latin typeface="Helvetica"/>
              </a:defRPr>
            </a:pPr>
            <a:r>
              <a:t>SOCOM has its own acquisition authority. They move faster, pay more, and have zero tolerance for logistics tails.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3566160" cy="228600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C3D21"/>
                </a:solidFill>
                <a:latin typeface="Helvetica"/>
              </a:defRPr>
            </a:pPr>
            <a:r>
              <a:t>73,000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SOF Personnel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519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Army SF, Navy SEALs, Rangers,</a:t>
            </a:r>
            <a:br/>
            <a:r>
              <a:t>MARSOC, Air Force SOF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926080"/>
            <a:ext cx="3566160" cy="228600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97316"/>
                </a:solidFill>
                <a:latin typeface="Helvetica"/>
              </a:defRPr>
            </a:pPr>
            <a:r>
              <a:t>80+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862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Countries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519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Simultaneous operations —</a:t>
            </a:r>
            <a:br/>
            <a:r>
              <a:t>zero resupply in denied zones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926080"/>
            <a:ext cx="3566160" cy="228600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1089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Helvetica"/>
              </a:defRPr>
            </a:pPr>
            <a:r>
              <a:t>Title 10</a:t>
            </a:r>
            <a:br/>
            <a:r>
              <a:t>§167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8862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Own Acquisition Authority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519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Bypasses slow Army procurement;</a:t>
            </a:r>
            <a:br/>
            <a:r>
              <a:t>can buy directly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94960"/>
            <a:ext cx="10698480" cy="685800"/>
          </a:xfrm>
          <a:prstGeom prst="rect">
            <a:avLst/>
          </a:prstGeom>
          <a:solidFill>
            <a:srgbClr val="1A2E1A"/>
          </a:solidFill>
          <a:ln w="9525">
            <a:solidFill>
              <a:srgbClr val="3B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SOCOM SBIR: Phase I = $150K / 6 months. Phase II = up to $1M / 2 years.  ·  SOFWERX (SOF innovation hub) offers direct engagement with SOF AT&amp;L decision makers — no prime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CUSTOMER —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USMC + ALLIED FORCES  ·  SECONDARY BUYERS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Two additional rings of buyers.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303520" cy="356616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5303520" cy="73152"/>
          </a:xfrm>
          <a:prstGeom prst="rect">
            <a:avLst/>
          </a:prstGeom>
          <a:solidFill>
            <a:srgbClr val="1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1A4A7A"/>
                </a:solidFill>
                <a:latin typeface="Helvetica"/>
              </a:defRPr>
            </a:pPr>
            <a:r>
              <a:t>US MARINE CORPS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7 Marine Expeditionary Units (MEUs)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Active, amphibious rapid-deployment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39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~177,000 active Marines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Expeditionary-first doctrine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Go ashore fast, establish power before</a:t>
            </a:r>
            <a:br/>
            <a:r>
              <a:t>supply chains exist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Buys via MARCORSYSCOM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Often co-buys with Army on shared programs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USMC FOB Energy program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Vocal about fuel dependency reduction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68880"/>
            <a:ext cx="5303520" cy="356616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468880"/>
            <a:ext cx="5303520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6060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t>NATO + PACIFIC ALLIES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17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32 NATO member nations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461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Same doctrine, same energy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20439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Japan, South Korea, Australia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49039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US ally Pacific theater — run identical FOB structures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233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Foreign Military Sales (FMS)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519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US-to-ally procurement 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262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Direct commercial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54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With proper export licensing (ITAR)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0292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Market multiplier ~3x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57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Validated US product sells internationally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Helvetica"/>
              </a:defRPr>
            </a:pPr>
            <a:r>
              <a:t>STRATEGY —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THE B2B2G PLAY  ·  FASTEST PATH TO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Sell to the primes. They sell to the DoD.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Defense tech startups already hold open government contracts (IDIQs, OTAs). Chargebotic integrates as their power source. They bundle and sell to DoD under their existing vehicle.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3566160" cy="3200400"/>
          </a:xfrm>
          <a:prstGeom prst="rect">
            <a:avLst/>
          </a:prstGeom>
          <a:solidFill>
            <a:srgbClr val="0D111C"/>
          </a:solidFill>
          <a:ln w="19050">
            <a:solidFill>
              <a:srgbClr val="FC3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3566160" cy="64008"/>
          </a:xfrm>
          <a:prstGeom prst="rect">
            <a:avLst/>
          </a:prstGeom>
          <a:solidFill>
            <a:srgbClr val="FC3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C3D21"/>
                </a:solidFill>
                <a:latin typeface="Helvetica"/>
              </a:defRPr>
            </a:pPr>
            <a:r>
              <a:t>DIRECT TO DoD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18–36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9A9A9A"/>
                </a:solidFill>
                <a:latin typeface="Helvetica"/>
              </a:defRPr>
            </a:pPr>
            <a:r>
              <a:t>TIME TO FIRST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SBIR Phase I →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074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Program of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9145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Long compliance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755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High barrier, high reward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834640"/>
            <a:ext cx="3566160" cy="3200400"/>
          </a:xfrm>
          <a:prstGeom prst="rect">
            <a:avLst/>
          </a:prstGeom>
          <a:solidFill>
            <a:srgbClr val="0D111C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834640"/>
            <a:ext cx="3566160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971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Helvetica"/>
              </a:defRPr>
            </a:pPr>
            <a:r>
              <a:t>B2B2G (PRIMES)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918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3–9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39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9A9A9A"/>
                </a:solidFill>
                <a:latin typeface="Helvetica"/>
              </a:defRPr>
            </a:pPr>
            <a:r>
              <a:t>TIME TO FIRST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23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Partner already has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074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They handle procurement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79145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Faster revenue, less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1755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Proof point for direct later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834640"/>
            <a:ext cx="3566160" cy="3200400"/>
          </a:xfrm>
          <a:prstGeom prst="rect">
            <a:avLst/>
          </a:prstGeom>
          <a:solidFill>
            <a:srgbClr val="0D111C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2834640"/>
            <a:ext cx="356616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971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t>BOTH IN PARALLEL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2918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Optimal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749039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9A9A9A"/>
                </a:solidFill>
                <a:latin typeface="Helvetica"/>
              </a:defRPr>
            </a:pPr>
            <a:r>
              <a:t>TIME TO FIRST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023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B2B2G for speed + cash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4074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SBIR for long-term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79145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Diversified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51755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·  Recommended approach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Helvetica"/>
              </a:defRPr>
            </a:pPr>
            <a:r>
              <a:t>PARTNERS —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B2B2G TARGET COMPANIES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t>Five companies. All need what we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1143000"/>
            <a:ext cx="2926080" cy="548640"/>
          </a:xfrm>
          <a:prstGeom prst="rect">
            <a:avLst/>
          </a:prstGeom>
          <a:solidFill>
            <a:srgbClr val="0D1F0D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234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Helvetica"/>
              </a:defRPr>
            </a:pPr>
            <a:r>
              <a:t>★  CALL CHARIOT 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0698480" cy="384048"/>
          </a:xfrm>
          <a:prstGeom prst="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40487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24048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2" y="240487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WHAT THEY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40487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WHY THEY NEED CHARGEBOTIC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0112" y="24048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PRIORITY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15768"/>
            <a:ext cx="10698480" cy="630936"/>
          </a:xfrm>
          <a:prstGeom prst="rect">
            <a:avLst/>
          </a:prstGeom>
          <a:solidFill>
            <a:srgbClr val="0D1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87121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Helvetica"/>
              </a:defRPr>
            </a:pPr>
            <a:r>
              <a:t>Chariot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2" y="287121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$41M · a16z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287121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Software-defined power distribution (Amphora)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87121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Routes power but has NO source — Chargebotic IS the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0112" y="287121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"/>
              </a:defRPr>
            </a:pPr>
            <a:r>
              <a:t>★★★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10698480" cy="630936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2958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t>Anduril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" y="352958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$20B+ val.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2" y="352958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Autonomous drones, sensors, directed energy, Lattice 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52958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All their edge systems are power-hungry — we supply the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0112" y="352958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★★★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32504"/>
            <a:ext cx="10698480" cy="630936"/>
          </a:xfrm>
          <a:prstGeom prst="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1879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t>Shield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0592" y="41879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Pre-IPO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2" y="41879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Hivemind autonomy software + V-BAT drone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18795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Drones need persistent power in comms-denied environments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41879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★★☆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90872"/>
            <a:ext cx="10698480" cy="630936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48463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9A9A9A"/>
                </a:solidFill>
                <a:latin typeface="Helvetica"/>
              </a:defRPr>
            </a:pPr>
            <a:r>
              <a:t>Mach Industries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0592" y="48463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$1.8B val.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2192" y="48463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UAV manufacturing at scale for DoD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8463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Power logistics is their customers' #1 pain — add-on hardware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112" y="4846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★★☆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49240"/>
            <a:ext cx="10698480" cy="630936"/>
          </a:xfrm>
          <a:prstGeom prst="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55046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9A9A9A"/>
                </a:solidFill>
                <a:latin typeface="Helvetica"/>
              </a:defRPr>
            </a:pPr>
            <a:r>
              <a:t>Windlift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50592" y="550468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$24M DoD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22192" y="55046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Tethered drone generating power from wind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50468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Same delivery model, different source — partner or watch closely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0112" y="550468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★☆☆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989320"/>
            <a:ext cx="10698480" cy="502920"/>
          </a:xfrm>
          <a:prstGeom prst="rect">
            <a:avLst/>
          </a:prstGeom>
          <a:solidFill>
            <a:srgbClr val="1A1005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080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Helvetica"/>
              </a:defRPr>
            </a:pPr>
            <a:r>
              <a:t>⚠  IP PROTECTION REQUIRED:  File patents before any demo conversation. NDA + term sheet fast. Never demo before IP is secured.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LANDSCAPE —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COMPETITIVE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No direct competitor. White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D4D4D4"/>
                </a:solidFill>
                <a:latin typeface="Helvetica"/>
              </a:defRPr>
            </a:pPr>
            <a:r>
              <a:t>No product today autonomously taps a power line and delivers that energy via tether to a ground station.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10698480" cy="411480"/>
          </a:xfrm>
          <a:prstGeom prst="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620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620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WHAT THEY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8620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8620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DIFFERENCE FROM CHARGEBOTIC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10698480" cy="493776"/>
          </a:xfrm>
          <a:prstGeom prst="rect">
            <a:avLst/>
          </a:prstGeom>
          <a:solidFill>
            <a:srgbClr val="0D1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91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Power line tap → tether → ground battery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2918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2918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"/>
              </a:defRPr>
            </a:pPr>
            <a:r>
              <a:t>✓  UNIQUE — NO EQUIVALENT EXISTS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21607"/>
            <a:ext cx="10698480" cy="493776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13047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Windlift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13047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Tethered drone powered by wind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813047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$24M DoD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813047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9A9A9A"/>
                </a:solidFill>
                <a:latin typeface="Helvetica"/>
              </a:defRPr>
            </a:pPr>
            <a:r>
              <a:t>Wind-dependent, no infrastructure tap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42814"/>
            <a:ext cx="10698480" cy="493776"/>
          </a:xfrm>
          <a:prstGeom prst="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3425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DARPA 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33425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Laser-based wireless power relay (RTX, Draper)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33425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$10M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334254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9A9A9A"/>
                </a:solidFill>
                <a:latin typeface="Helvetica"/>
              </a:defRPr>
            </a:pPr>
            <a:r>
              <a:t>Optical/wireless, different physics, no tether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64021"/>
            <a:ext cx="10698480" cy="493776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55461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Solar + Battery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855461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Deployed solar panels + battery banks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855461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Widespread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855461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9A9A9A"/>
                </a:solidFill>
                <a:latin typeface="Helvetica"/>
              </a:defRPr>
            </a:pPr>
            <a:r>
              <a:t>Weather-dependent, 30-50% fuel reduction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285228"/>
            <a:ext cx="10698480" cy="493776"/>
          </a:xfrm>
          <a:prstGeom prst="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3766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Diesel Generators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37666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Standard Army MEP generator sets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3766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Incumbent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37666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9A9A9A"/>
                </a:solidFill>
                <a:latin typeface="Helvetica"/>
              </a:defRPr>
            </a:pPr>
            <a:r>
              <a:t>Fuel-dependent, loud, logistics tail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EXECUTION —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KEY PROGRAMS &amp; PROCUREMENT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How to get in the door.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303520" cy="365760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ACTIVE DoD PROGRAMS (BUYING SIGNALS)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45720" cy="274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Army SBIR Power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954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$250K Phase I — open RFP specifically for military power innovation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493008"/>
            <a:ext cx="45720" cy="274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SOCOM SBIR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850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$150K Phase I / $1M Phase II — SOF power &amp; autonomy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68496"/>
            <a:ext cx="45720" cy="274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5020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DARPA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605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$10M+ for novel energy delivery — signals DoD appetite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43984"/>
            <a:ext cx="45720" cy="274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2569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Army Operational Energy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3600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Formal mandate to reduce FOB fuel dependency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919472"/>
            <a:ext cx="45720" cy="274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0118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Tethered Drones → Army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1149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Army making tethered drones formal in 2025 — direct precedent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394960"/>
            <a:ext cx="45720" cy="274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37667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DoD/GAO Convoy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8698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Congressional pressure = political cover for procurement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468880"/>
            <a:ext cx="5303520" cy="365760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6060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Helvetica"/>
              </a:defRPr>
            </a:pPr>
            <a:r>
              <a:t>RECOMMENDED ENTRY SEQUENCE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971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97180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Army SBIR Phase 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2461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$250K · 6 months · lowest barrier</a:t>
            </a:r>
            <a:br/>
            <a:r>
              <a:t>Army has open power opportunity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7216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721608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SOCOM SBIR Phase 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99592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$150K · run in parallel · faster approval</a:t>
            </a:r>
            <a:br/>
            <a:r>
              <a:t>Direct access via SOFWERX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7141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1A4A7A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47141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OTA Prototype Agreement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745736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Post-Phase II · no competitive bid required</a:t>
            </a:r>
            <a:br/>
            <a:r>
              <a:t>Bridge to production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22122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  <a:latin typeface="Helvetica"/>
              </a:defRPr>
            </a:pPr>
            <a: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22122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Program of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549554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Long-term goal · becomes budget line item</a:t>
            </a:r>
            <a:br/>
            <a:r>
              <a:t>in Army or SOCOM procurement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SUMMARY —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THE FULL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elvetica"/>
              </a:defRPr>
            </a:pPr>
            <a:r>
              <a:t>Large market. No competitor. Two paths to revenue.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5486400" cy="352044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2432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2432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Helvetica"/>
              </a:defRPr>
            </a:pPr>
            <a:r>
              <a:t>$7.7B–$10.8B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9864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Military power market,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4612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Helvetica"/>
              </a:defRPr>
            </a:pPr>
            <a:r>
              <a:t>$400M–$800M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Deployable off-grid tactical power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6791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Market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86791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Helvetica"/>
              </a:defRPr>
            </a:pPr>
            <a:r>
              <a:t>8.5–19% CAGR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422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Depending on sub-segment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98264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8970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Direct customer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48970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Helvetica"/>
              </a:defRPr>
            </a:pPr>
            <a:r>
              <a:t>US Army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6402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32 active BCTs, ~150K deployed soldiers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020056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11496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Direct customer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111496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Helvetica"/>
              </a:defRPr>
            </a:pPr>
            <a:r>
              <a:t>USSOCOM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85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73K SOF, own acquisition authority, fastest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468880"/>
            <a:ext cx="5486400" cy="352044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62432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B2B2G target #1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2432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Helvetica"/>
              </a:defRPr>
            </a:pPr>
            <a:r>
              <a:t>Chariot Defense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89864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$41M a16z-backed — routes power, needs our 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154680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24612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B2B2G target #2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4612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Helvetica"/>
              </a:defRPr>
            </a:pPr>
            <a:r>
              <a:t>Anduril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5204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$20B+ val — edge systems starved of power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776472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386791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Direct competitors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86791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Helvetica"/>
              </a:defRPr>
            </a:pPr>
            <a:r>
              <a:t>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1422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White space — no equivalent product exists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4398264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448970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Fuel at FOBs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48970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Helvetica"/>
              </a:defRPr>
            </a:pPr>
            <a:r>
              <a:t>$400/gallon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76402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Fully burdened — extreme willingness to pay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5020056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5111496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First move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111496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Helvetica"/>
              </a:defRPr>
            </a:pPr>
            <a:r>
              <a:t>IP + B2B2G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5385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File patents → call Chariot → run SBIR in parallel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91695" cy="548640"/>
          </a:xfrm>
          <a:prstGeom prst="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62362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BOTTOM LINE:  $20B+ DoD energy problem. No direct competitor. Call Chariot Defense first (they distribute power but have no source — we are the source). File IP. Run B2B2G and SBIR in parallel.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