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8A8A87"/>
                </a:solidFill>
                <a:latin typeface="Helvetica"/>
              </a:defRPr>
            </a:pPr>
            <a:r>
              <a:t>PRE-SEED  ·  JULY 2026  · 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400" b="1">
                <a:solidFill>
                  <a:srgbClr val="F5F5F3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FFB84D"/>
                </a:solidFill>
                <a:latin typeface="Helvetica"/>
              </a:defRPr>
            </a:pPr>
            <a:r>
              <a:t>The charging network for machines in the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B4B4B1"/>
                </a:solidFill>
                <a:latin typeface="Helvetica"/>
              </a:defRPr>
            </a:pPr>
            <a:r>
              <a:t>Kestrel, a portable charging system that draws power from live power lines.</a:t>
            </a:r>
            <a:br/>
            <a:r>
              <a:t>Spark E, a drone that charges itself on the line. Software that meters every watt.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12191695" cy="109728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5F5F3"/>
                </a:solidFill>
                <a:latin typeface="Helvetica"/>
              </a:defRPr>
            </a:pPr>
            <a:r>
              <a:t>$65K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589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B4B4B1"/>
                </a:solidFill>
                <a:latin typeface="Helvetica"/>
              </a:defRPr>
            </a:pPr>
            <a:r>
              <a:t>Kestrel unit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5029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5F5F3"/>
                </a:solidFill>
                <a:latin typeface="Helvetica"/>
              </a:defRPr>
            </a:pPr>
            <a:r>
              <a:t>50-150W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54589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B4B4B1"/>
                </a:solidFill>
                <a:latin typeface="Helvetica"/>
              </a:defRPr>
            </a:pPr>
            <a:r>
              <a:t>Harvested today (K1)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29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5F5F3"/>
                </a:solidFill>
                <a:latin typeface="Helvetica"/>
              </a:defRPr>
            </a:pPr>
            <a:r>
              <a:t>$6M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589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B4B4B1"/>
                </a:solidFill>
                <a:latin typeface="Helvetica"/>
              </a:defRPr>
            </a:pPr>
            <a:r>
              <a:t>12-month revenue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5029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5F5F3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54589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B4B4B1"/>
                </a:solidFill>
                <a:latin typeface="Helvetica"/>
              </a:defRPr>
            </a:pPr>
            <a:r>
              <a:t>Products, one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Range is the constraint on every electric machine.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B4B4B1"/>
                </a:solidFill>
                <a:latin typeface="Helvetica"/>
              </a:defRPr>
            </a:pPr>
            <a:r>
              <a:t>Ground: robots, cars, tractors. Air: drones, eVTOL. Useful life is capped by the battery, and every mission ends the same way: go back to base and charge.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10881360" cy="1554480"/>
          </a:xfrm>
          <a:prstGeom prst="rect">
            <a:avLst/>
          </a:prstGeom>
          <a:solidFill>
            <a:srgbClr val="121316"/>
          </a:solidFill>
          <a:ln w="1524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F5F3"/>
                </a:solidFill>
                <a:latin typeface="Helvetica"/>
              </a:defRPr>
            </a:pPr>
            <a:r>
              <a:t>The key innovation of Tesla was not the car. It was the charging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B4B4B1"/>
                </a:solidFill>
                <a:latin typeface="Helvetica"/>
              </a:defRPr>
            </a:pPr>
            <a:r>
              <a:t>The network made EVs valuable and useful for the first time. Machines in the field are waiting for the same unlock.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B84D"/>
                </a:solidFill>
                <a:latin typeface="Helvetica"/>
              </a:defRPr>
            </a:pPr>
            <a:r>
              <a:t>In the field there is no charging network. There are generators, fuel convoys, and missions cut short.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Power is everywhere. It just was never available.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B4B4B1"/>
                </a:solidFill>
                <a:latin typeface="Helvetica"/>
              </a:defRPr>
            </a:pPr>
            <a:r>
              <a:t>Power lines already run through nearly every operating area on earth. Kestrel makes them a charging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3611880" cy="201168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E8490A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B84D"/>
                </a:solidFill>
                <a:latin typeface="Helvetica"/>
              </a:defRPr>
            </a:pPr>
            <a:r>
              <a:t>PERCH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Kestrel lands on the line and holds, using no flight power.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651760"/>
            <a:ext cx="3611880" cy="201168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E8490A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290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B84D"/>
                </a:solidFill>
                <a:latin typeface="Helvetica"/>
              </a:defRPr>
            </a:pPr>
            <a:r>
              <a:t>HARVEST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947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It draws energy directly from the live power 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651760"/>
            <a:ext cx="3611880" cy="201168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E8490A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4290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B84D"/>
                </a:solidFill>
                <a:latin typeface="Helvetica"/>
              </a:defRPr>
            </a:pPr>
            <a:r>
              <a:t>DELIVER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7947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Power flows down a tether: into a battery, or direct to the machine.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No fuel. No generator. No signature. A charging network that is already built.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AND THEN THE NETWORK CHARGES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Spark E: drones that charge themselves on the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A drone that lands on a power line, recharges its own battery, and flies on. No ground crew, no battery swaps, no return to base. Every power line on earth becomes its charging station.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2651760" cy="155448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337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FB84D"/>
                </a:solidFill>
                <a:latin typeface="Helvetica"/>
              </a:defRPr>
            </a:pPr>
            <a:r>
              <a:t>30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86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V1 flight per charge (Orca X30)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3108960"/>
            <a:ext cx="2651760" cy="155448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3337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FB84D"/>
                </a:solidFill>
                <a:latin typeface="Helvetica"/>
              </a:defRPr>
            </a:pPr>
            <a:r>
              <a:t>80 km/h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3886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V1 top 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108960"/>
            <a:ext cx="2651760" cy="155448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3337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FB84D"/>
                </a:solidFill>
                <a:latin typeface="Helvetica"/>
              </a:defRPr>
            </a:pPr>
            <a:r>
              <a:t>120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886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V2 flight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3108960"/>
            <a:ext cx="2651760" cy="155448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3337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FB84D"/>
                </a:solidFill>
                <a:latin typeface="Helvetica"/>
              </a:defRPr>
            </a:pPr>
            <a:r>
              <a:t>17,000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3886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One customer's coverage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Range extension changes the unit economics of every drone operation.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Built to ship hardware and win contracts.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2697480" cy="237744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21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F5F3"/>
                </a:solidFill>
                <a:latin typeface="Helvetica"/>
              </a:defRPr>
            </a:pPr>
            <a:r>
              <a:t>ANIS CHERIET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505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E8490A"/>
                </a:solidFill>
                <a:latin typeface="Helvetica"/>
              </a:defRPr>
            </a:pPr>
            <a:r>
              <a:t>Co-Founder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EV charging infrastructure across Europe. Strategy, defense partnerships, fundraising.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920240"/>
            <a:ext cx="2697480" cy="237744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121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F5F3"/>
                </a:solidFill>
                <a:latin typeface="Helvetica"/>
              </a:defRPr>
            </a:pPr>
            <a:r>
              <a:t>BO REDFEARN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505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E8490A"/>
                </a:solidFill>
                <a:latin typeface="Helvetica"/>
              </a:defRPr>
            </a:pPr>
            <a:r>
              <a:t>Co-Founder &amp; 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889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Formerly Apple. Designed Magline, the harvesting core. Hardware and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920240"/>
            <a:ext cx="2697480" cy="237744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2121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F5F3"/>
                </a:solidFill>
                <a:latin typeface="Helvetica"/>
              </a:defRPr>
            </a:pPr>
            <a:r>
              <a:t>AMIN FOROUGHI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24505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E8490A"/>
                </a:solidFill>
                <a:latin typeface="Helvetica"/>
              </a:defRPr>
            </a:pPr>
            <a:r>
              <a:t>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27889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Computer vision and autonomy. Line detection and semi-autonomous attach.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920240"/>
            <a:ext cx="2697480" cy="237744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599" y="2121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F5F3"/>
                </a:solidFill>
                <a:latin typeface="Helvetica"/>
              </a:defRPr>
            </a:pPr>
            <a:r>
              <a:t>BECKETT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4505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E8490A"/>
                </a:solidFill>
                <a:latin typeface="Helvetica"/>
              </a:defRPr>
            </a:pPr>
            <a:r>
              <a:t>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7889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Mechanical engineering. FPV champion pilot. Flight testing.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72000"/>
            <a:ext cx="10881360" cy="1005840"/>
          </a:xfrm>
          <a:prstGeom prst="rect">
            <a:avLst/>
          </a:prstGeom>
          <a:solidFill>
            <a:srgbClr val="121316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Helvetica"/>
              </a:defRPr>
            </a:pPr>
            <a:r>
              <a:t>ADVISORS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B4B4B1"/>
                </a:solidFill>
                <a:latin typeface="Helvetica"/>
              </a:defRPr>
            </a:pPr>
            <a:r>
              <a:t>Patrick Consorti (Silicon Valley operator, Bridge2)  ·  Arne Stoschek (ex Volkswagen, Better Place)  ·  [Ex-PG&amp;E utility advisor, name TBD]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LAUNCH PRODUCT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Kestrel. Portable charging system. $65K.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B4B4B1"/>
                </a:solidFill>
                <a:latin typeface="Helvetica"/>
              </a:defRPr>
            </a:pPr>
            <a:r>
              <a:t>For defense: missions and vehicles operating far from any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2651760" cy="91440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8490A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33472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5F5F3"/>
                </a:solidFill>
                <a:latin typeface="Helvetica"/>
              </a:defRPr>
            </a:pPr>
            <a:r>
              <a:t>Lands on the powerline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468880"/>
            <a:ext cx="2651760" cy="91440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8490A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33472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5F5F3"/>
                </a:solidFill>
                <a:latin typeface="Helvetica"/>
              </a:defRPr>
            </a:pPr>
            <a:r>
              <a:t>Tether sends power 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468880"/>
            <a:ext cx="2651760" cy="91440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8490A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33472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5F5F3"/>
                </a:solidFill>
                <a:latin typeface="Helvetica"/>
              </a:defRPr>
            </a:pPr>
            <a:r>
              <a:t>Converter conditions the power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2468880"/>
            <a:ext cx="2651760" cy="91440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8490A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633472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5F5F3"/>
                </a:solidFill>
                <a:latin typeface="Helvetica"/>
              </a:defRPr>
            </a:pPr>
            <a:r>
              <a:t>[Optional] battery buffer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10881360" cy="1737360"/>
          </a:xfrm>
          <a:prstGeom prst="rect">
            <a:avLst/>
          </a:prstGeom>
          <a:solidFill>
            <a:srgbClr val="121316"/>
          </a:solidFill>
          <a:ln w="1270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B84D"/>
                </a:solidFill>
                <a:latin typeface="Helvetica"/>
              </a:defRPr>
            </a:pPr>
            <a:r>
              <a:t>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5F5F3"/>
                </a:solidFill>
                <a:latin typeface="Helvetica"/>
              </a:defRPr>
            </a:pPr>
            <a:r>
              <a:t>Chariot Defense — battlefield power hubs, a16z-backed. Pilot in negotiation.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5F5F3"/>
                </a:solidFill>
                <a:latin typeface="Helvetica"/>
              </a:defRPr>
            </a:pPr>
            <a:r>
              <a:t>Overland — [customer details TBD]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LAUNCH PRODUCT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Spark E. The self-charging drone.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611880" cy="228600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B84D"/>
                </a:solidFill>
                <a:latin typeface="Helvetica"/>
              </a:defRPr>
            </a:pPr>
            <a:r>
              <a:t>V1  ·  ORCA X30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957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30 min flight per charge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9806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Up to 80 km/h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004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Payload up to [X]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0273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Autonomous modes + BVLOS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11880" cy="228600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5F5F3"/>
                </a:solidFill>
                <a:latin typeface="Helvetica"/>
              </a:defRPr>
            </a:pPr>
            <a:r>
              <a:t>V2  ·  [MODEL TBD]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120 min flight per 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9806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Payload [TBD]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2004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Extended autonomy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60273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In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611880" cy="228600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8A8A87"/>
                </a:solidFill>
                <a:latin typeface="Helvetica"/>
              </a:defRPr>
            </a:pPr>
            <a:r>
              <a:t>CUSTOM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3957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Engineering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79806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Customer sensors + electronics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2004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Integration with their autonomy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60273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B4B4B1"/>
                </a:solidFill>
                <a:latin typeface="Helvetica"/>
              </a:defRPr>
            </a:pPr>
            <a:r>
              <a:t>·  Per-program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B84D"/>
                </a:solidFill>
                <a:latin typeface="Helvetica"/>
              </a:defRPr>
            </a:pPr>
            <a:r>
              <a:t>WHO BUYS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5F5F3"/>
                </a:solidFill>
                <a:latin typeface="Helvetica"/>
              </a:defRPr>
            </a:pPr>
            <a:r>
              <a:t>Cupertino — largest utility inspector in Argentina. 17,000 km of lines to cover.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5F5F3"/>
                </a:solidFill>
                <a:latin typeface="Helvetica"/>
              </a:defRPr>
            </a:pPr>
            <a:r>
              <a:t>Automated reforestation drone fleets  ·  Aerial imagery collection  ·  Defense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THE LAYER ON 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Software: every watt measured, every line known.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3611880" cy="219456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B84D"/>
                </a:solidFill>
                <a:latin typeface="Helvetica"/>
              </a:defRPr>
            </a:pPr>
            <a:r>
              <a:t>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Live status of every Kestrel and Spark E in the field: position, power,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103120"/>
            <a:ext cx="3611880" cy="219456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3317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B84D"/>
                </a:solidFill>
                <a:latin typeface="Helvetica"/>
              </a:defRPr>
            </a:pPr>
            <a:r>
              <a:t>LINE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8892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Every perch is an inspection. Line condition data utilities do not have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103120"/>
            <a:ext cx="3611880" cy="2194560"/>
          </a:xfrm>
          <a:prstGeom prst="rect">
            <a:avLst/>
          </a:prstGeom>
          <a:solidFill>
            <a:srgbClr val="121316"/>
          </a:solidFill>
          <a:ln w="9525">
            <a:solidFill>
              <a:srgbClr val="26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317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B84D"/>
                </a:solidFill>
                <a:latin typeface="Helvetica"/>
              </a:defRPr>
            </a:pPr>
            <a:r>
              <a:t>METERING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78892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Measure the energy drawn, bill for it. The mechanism that makes grid partnerships pay.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Hardware plus subscription.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Hardware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21488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Kestrel at $65K. Spark E priced per configuration.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Software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926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Telemetry, line health, metering. Recurring, attached to every unit.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40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Training &amp;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7033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Operator training, field support, hardware upgrade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Two markets, one charging network.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5349240" cy="2926080"/>
          </a:xfrm>
          <a:prstGeom prst="rect">
            <a:avLst/>
          </a:prstGeom>
          <a:solidFill>
            <a:srgbClr val="121316"/>
          </a:solidFill>
          <a:ln w="15240">
            <a:solidFill>
              <a:srgbClr val="E84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E8490A"/>
                </a:solidFill>
                <a:latin typeface="Helvetica"/>
              </a:defRPr>
            </a:pPr>
            <a:r>
              <a:t>CHARGING SYSTEMS —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400" b="1">
                <a:solidFill>
                  <a:srgbClr val="F5F5F3"/>
                </a:solidFill>
                <a:latin typeface="Helvetica"/>
              </a:defRPr>
            </a:pPr>
            <a:r>
              <a:t>250,000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Vehicles in the US fleet that operate away from fixed power. Every one is a candidate for line-drawn charging.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011680"/>
            <a:ext cx="5349240" cy="2926080"/>
          </a:xfrm>
          <a:prstGeom prst="rect">
            <a:avLst/>
          </a:prstGeom>
          <a:solidFill>
            <a:srgbClr val="121316"/>
          </a:solidFill>
          <a:ln w="1524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402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B84D"/>
                </a:solidFill>
                <a:latin typeface="Helvetica"/>
              </a:defRPr>
            </a:pPr>
            <a:r>
              <a:t>SELF-CHARGING DRONES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400" b="1">
                <a:solidFill>
                  <a:srgbClr val="FFB84D"/>
                </a:solidFill>
                <a:latin typeface="Helvetica"/>
              </a:defRPr>
            </a:pPr>
            <a:r>
              <a:t>[TAM TBD]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52044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Inspection, reforestation, imagery, defense. Every operator whose economics are capped by battery range.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THE QUESTION EVERYONE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Is this legal?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Yes, built the right way: with the utilities, not around them. Our advisor spent a career at PG&amp;E.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Safety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974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Non-contact harvesting, controlled standoff, redundancies, formal safety case.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New revenue for utilities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347472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Metered energy drawn from their lines becomes a new revenue 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Line health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519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Every perch inspects the line. Utilities get condition data they lack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B84D"/>
                </a:solidFill>
                <a:latin typeface="Helvetica"/>
              </a:defRPr>
            </a:pPr>
            <a:r>
              <a:t>Advisor: [name TBD], ex PG&amp;E.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WHERE THE PRODUCT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5F5F3"/>
                </a:solidFill>
                <a:latin typeface="Helvetica"/>
              </a:defRPr>
            </a:pPr>
            <a:r>
              <a:t>Kestrel 1 works. Kestrel 2 ships Q3.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349240" cy="3931920"/>
          </a:xfrm>
          <a:prstGeom prst="rect">
            <a:avLst/>
          </a:prstGeom>
          <a:solidFill>
            <a:srgbClr val="121316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Helvetica"/>
              </a:defRPr>
            </a:pPr>
            <a:r>
              <a:t>KESTREL 1  · 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Works on powerlines, 50 to 150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5351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Demonstrated on Orca drone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83863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Remote piloted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14215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BOM $15K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4456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Pulls [X] W in [Y]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1 hr replaces a [P] generator / 300L of fuel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349240" cy="3931920"/>
          </a:xfrm>
          <a:prstGeom prst="rect">
            <a:avLst/>
          </a:prstGeom>
          <a:solidFill>
            <a:srgbClr val="121316"/>
          </a:solidFill>
          <a:ln w="1270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B84D"/>
                </a:solidFill>
                <a:latin typeface="Helvetica"/>
              </a:defRPr>
            </a:pPr>
            <a:r>
              <a:t>KESTREL 2  ·  SHIPPING 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Powerlines 50 to 250 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5351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Retrofit to multiple airframes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83863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Semi-autonomous: finds and attaches to the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14215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Integrates with customer autonomy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54456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BOM $20K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074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B4B4B1"/>
                </a:solidFill>
                <a:latin typeface="Helvetica"/>
              </a:defRPr>
            </a:pPr>
            <a:r>
              <a:t>·  1 hr replaces a [P] generator / 900L of fuel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8490A"/>
                </a:solidFill>
                <a:latin typeface="Helvetica"/>
              </a:defRPr>
            </a:pPr>
            <a:r>
              <a:t>NEXT 12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F5F3"/>
                </a:solidFill>
                <a:latin typeface="Helvetica"/>
              </a:defRPr>
            </a:pPr>
            <a:r>
              <a:t>$6M revenue. Two products in the field.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0574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$6M over the next 12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61488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157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Kestrel Gen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715768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In production at scale: 3 customers, 10 units 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19856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7413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Spark E Gen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37413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30 drones sold and flying in the field.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78224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3250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Spark E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032504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Proven: BOM, charge time, flight time [figures TBD].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36592"/>
            <a:ext cx="45720" cy="310896"/>
          </a:xfrm>
          <a:prstGeom prst="rect">
            <a:avLst/>
          </a:prstGeom>
          <a:solidFill>
            <a:srgbClr val="E84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9087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5F3"/>
                </a:solidFill>
                <a:latin typeface="Helvetica"/>
              </a:defRPr>
            </a:pPr>
            <a:r>
              <a:t>Non-dilutive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690872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B4B4B1"/>
                </a:solidFill>
                <a:latin typeface="Helvetica"/>
              </a:defRPr>
            </a:pPr>
            <a:r>
              <a:t>SBIR Direct to Phase II.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B84D"/>
                </a:solidFill>
                <a:latin typeface="Helvetica"/>
              </a:defRPr>
            </a:pPr>
            <a:r>
              <a:t>Anis Cheriet  ·  anis@chargebotic.com  ·  chargebotic.com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CHARGEBOTIC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A5A57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8A8A87"/>
                </a:solidFill>
                <a:latin typeface="Helvetica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