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9A9A9A"/>
                </a:solidFill>
                <a:latin typeface="Helvetica"/>
              </a:defRPr>
            </a:pPr>
            <a:r>
              <a:t>PRE-SEED  ·  JUNE 2026  ·  CONFIDENTIAL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600" b="1">
                <a:solidFill>
                  <a:srgbClr val="FFFFFF"/>
                </a:solidFill>
                <a:latin typeface="Helvetica"/>
              </a:defRPr>
            </a:pPr>
            <a:r>
              <a:t>CHARGEBOTIC</a:t>
            </a:r>
            <a:br/>
            <a:r>
              <a:t>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00B4FF"/>
                </a:solidFill>
                <a:latin typeface="Helvetica"/>
              </a:defRPr>
            </a:pPr>
            <a:r>
              <a:t>Perch on power lines. Harvest energy. Deliver it anywhere.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D4D4D4"/>
                </a:solidFill>
                <a:latin typeface="Helvetica"/>
              </a:defRPr>
            </a:pPr>
            <a:r>
              <a:t>A drone that lands on power lines, extracts energy inductively, and powers defense systems or inspects the grid — with zero infrastructure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46320"/>
            <a:ext cx="12191695" cy="1143000"/>
          </a:xfrm>
          <a:prstGeom prst="rect">
            <a:avLst/>
          </a:prstGeom>
          <a:solidFill>
            <a:srgbClr val="06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956048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Helvetica"/>
              </a:defRPr>
            </a:pPr>
            <a:r>
              <a:t>$6.5M/yr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76672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D4D4D4"/>
                </a:solidFill>
                <a:latin typeface="Helvetica"/>
              </a:defRPr>
            </a:pPr>
            <a:r>
              <a:t>Active defense deal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956048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Helvetica"/>
              </a:defRPr>
            </a:pPr>
            <a:r>
              <a:t>$30B+/yr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376672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D4D4D4"/>
                </a:solidFill>
                <a:latin typeface="Helvetica"/>
              </a:defRPr>
            </a:pPr>
            <a:r>
              <a:t>Inspection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956048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Helvetica"/>
              </a:defRPr>
            </a:pPr>
            <a:r>
              <a:t>7.3M 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376672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D4D4D4"/>
                </a:solidFill>
                <a:latin typeface="Helvetica"/>
              </a:defRPr>
            </a:pPr>
            <a:r>
              <a:t>Power lines worldwide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956048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Helvetica"/>
              </a:defRPr>
            </a:pPr>
            <a: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5376672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D4D4D4"/>
                </a:solidFill>
                <a:latin typeface="Helvetica"/>
              </a:defRPr>
            </a:pPr>
            <a:r>
              <a:t>Direct competitors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355080"/>
            <a:ext cx="11277295" cy="9525"/>
          </a:xfrm>
          <a:prstGeom prst="rect">
            <a:avLst/>
          </a:prstGeom>
          <a:solidFill>
            <a:srgbClr val="22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9A9A9A"/>
                </a:solidFill>
                <a:latin typeface="Helvetica"/>
              </a:defRPr>
            </a:pPr>
            <a:r>
              <a:t>CHARGEBOTIC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6446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>
                <a:solidFill>
                  <a:srgbClr val="555555"/>
                </a:solidFill>
                <a:latin typeface="Helvetica"/>
              </a:defRPr>
            </a:pPr>
            <a:r>
              <a:t>anis@chargebotic.com  ·  chargebotic.com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446520"/>
            <a:ext cx="21332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00" b="1">
                <a:solidFill>
                  <a:srgbClr val="9A9A9A"/>
                </a:solidFill>
                <a:latin typeface="Helvetica"/>
              </a:defRPr>
            </a:pPr>
            <a: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FC3D21"/>
                </a:solidFill>
                <a:latin typeface="Helvetica"/>
              </a:defRPr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Helvetica"/>
              </a:defRPr>
            </a:pPr>
            <a:r>
              <a:t>Two industries. Same</a:t>
            </a:r>
            <a:br/>
            <a:r>
              <a:t>unsolved problem.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377440"/>
            <a:ext cx="5349240" cy="3383280"/>
          </a:xfrm>
          <a:prstGeom prst="rect">
            <a:avLst/>
          </a:prstGeom>
          <a:solidFill>
            <a:srgbClr val="0D111C"/>
          </a:solidFill>
          <a:ln w="15240">
            <a:solidFill>
              <a:srgbClr val="FC3D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57860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C3D21"/>
                </a:solidFill>
                <a:latin typeface="Helvetica"/>
              </a:defRPr>
            </a:pPr>
            <a:r>
              <a:t>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971800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D4D4D4"/>
                </a:solidFill>
                <a:latin typeface="Helvetica"/>
              </a:defRPr>
            </a:pPr>
            <a:r>
              <a:t>Autonomous systems go dark when batteries die. There is no silent, persistent way to recharge them in the field.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977639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elvetica"/>
              </a:defRPr>
            </a:pPr>
            <a:r>
              <a:t>·  $400/gal fuel cost at forward operating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526279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elvetica"/>
              </a:defRPr>
            </a:pPr>
            <a:r>
              <a:t>·  1 in 24 fuel convoy casualties (US Army study)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07492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elvetica"/>
              </a:defRPr>
            </a:pPr>
            <a:r>
              <a:t>·  250,000 Army vehicles, no field recharge solution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2377440"/>
            <a:ext cx="5349240" cy="3383280"/>
          </a:xfrm>
          <a:prstGeom prst="rect">
            <a:avLst/>
          </a:prstGeom>
          <a:solidFill>
            <a:srgbClr val="0D111C"/>
          </a:solidFill>
          <a:ln w="1524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257860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97316"/>
                </a:solidFill>
                <a:latin typeface="Helvetica"/>
              </a:defRPr>
            </a:pPr>
            <a:r>
              <a:t>UTILITY INSPECTION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2971800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D4D4D4"/>
                </a:solidFill>
                <a:latin typeface="Helvetica"/>
              </a:defRPr>
            </a:pPr>
            <a:r>
              <a:t>7.3M km of power lines, aging fast. Inspection is still done by helicopter or manual crew — slow, expensive, dangerous.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3977639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elvetica"/>
              </a:defRPr>
            </a:pPr>
            <a:r>
              <a:t>·  Helicopter inspection: $500–1,000 per mile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4526279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elvetica"/>
              </a:defRPr>
            </a:pPr>
            <a:r>
              <a:t>·  Vegetation encroachment causes 60%+ of outages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507492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elvetica"/>
              </a:defRPr>
            </a:pPr>
            <a:r>
              <a:t>·  $30B/year spent — mostly manual, not preventive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355080"/>
            <a:ext cx="11277295" cy="9525"/>
          </a:xfrm>
          <a:prstGeom prst="rect">
            <a:avLst/>
          </a:prstGeom>
          <a:solidFill>
            <a:srgbClr val="22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9A9A9A"/>
                </a:solidFill>
                <a:latin typeface="Helvetica"/>
              </a:defRPr>
            </a:pPr>
            <a:r>
              <a:t>CHARGEBOTIC INC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46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>
                <a:solidFill>
                  <a:srgbClr val="555555"/>
                </a:solidFill>
                <a:latin typeface="Helvetica"/>
              </a:defRPr>
            </a:pPr>
            <a:r>
              <a:t>anis@chargebotic.com  ·  chargebotic.com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46520"/>
            <a:ext cx="21332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00" b="1">
                <a:solidFill>
                  <a:srgbClr val="9A9A9A"/>
                </a:solidFill>
                <a:latin typeface="Helvetica"/>
              </a:defRPr>
            </a:pPr>
            <a: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00B4FF"/>
                </a:solidFill>
                <a:latin typeface="Helvetica"/>
              </a:defRPr>
            </a:pPr>
            <a:r>
              <a:t>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Helvetica"/>
              </a:defRPr>
            </a:pPr>
            <a:r>
              <a:t>Two $30B markets. Nobody has touched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D4D4D4"/>
                </a:solidFill>
                <a:latin typeface="Helvetica"/>
              </a:defRPr>
            </a:pPr>
            <a:r>
              <a:t>Power lines run through every battlefield, every grid, every disaster zone. They carry enormous energy — and nobody is tapping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349240" cy="1828800"/>
          </a:xfrm>
          <a:prstGeom prst="rect">
            <a:avLst/>
          </a:prstGeom>
          <a:solidFill>
            <a:srgbClr val="0D111C"/>
          </a:solidFill>
          <a:ln w="19050">
            <a:solidFill>
              <a:srgbClr val="FC3D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7860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200" b="1">
                <a:solidFill>
                  <a:srgbClr val="FC3D21"/>
                </a:solidFill>
                <a:latin typeface="Helvetica"/>
              </a:defRPr>
            </a:pPr>
            <a:r>
              <a:t>$30B+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0156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Helvetica"/>
              </a:defRPr>
            </a:pPr>
            <a:r>
              <a:t>Defense 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D4D4D4"/>
                </a:solidFill>
                <a:latin typeface="Helvetica"/>
              </a:defRPr>
            </a:pPr>
            <a:r>
              <a:t>Military field power for UGVs, sensors, and</a:t>
            </a:r>
            <a:br/>
            <a:r>
              <a:t>forward operating bases — US + NATO forces.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377440"/>
            <a:ext cx="5349240" cy="1828800"/>
          </a:xfrm>
          <a:prstGeom prst="rect">
            <a:avLst/>
          </a:prstGeom>
          <a:solidFill>
            <a:srgbClr val="0D111C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57860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200" b="1">
                <a:solidFill>
                  <a:srgbClr val="F97316"/>
                </a:solidFill>
                <a:latin typeface="Helvetica"/>
              </a:defRPr>
            </a:pPr>
            <a:r>
              <a:t>$30B+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40156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Helvetica"/>
              </a:defRPr>
            </a:pPr>
            <a:r>
              <a:t>Utility TAM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D4D4D4"/>
                </a:solidFill>
                <a:latin typeface="Helvetica"/>
              </a:defRPr>
            </a:pPr>
            <a:r>
              <a:t>Power line inspection market worldwide —</a:t>
            </a:r>
            <a:br/>
            <a:r>
              <a:t>7.3M km of lines, aging fast.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720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9A9A9A"/>
                </a:solidFill>
                <a:latin typeface="Helvetica"/>
              </a:defRPr>
            </a:pPr>
            <a:r>
              <a:t>OUR PATH 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056632"/>
            <a:ext cx="45720" cy="274320"/>
          </a:xfrm>
          <a:prstGeom prst="rect">
            <a:avLst/>
          </a:prstGeom>
          <a:solidFill>
            <a:srgbClr val="00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9262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Helvetica"/>
              </a:defRPr>
            </a:pPr>
            <a:r>
              <a:t>SAM — 5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992624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D4D4D4"/>
                </a:solidFill>
                <a:latin typeface="Helvetica"/>
              </a:defRPr>
            </a:pPr>
            <a:r>
              <a:t>$50–200M  ·  B2B2G via Chariot + direct DoD; utility via Cupertino and Terna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605272"/>
            <a:ext cx="45720" cy="274320"/>
          </a:xfrm>
          <a:prstGeom prst="rect">
            <a:avLst/>
          </a:prstGeom>
          <a:solidFill>
            <a:srgbClr val="00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4126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Helvetica"/>
              </a:defRPr>
            </a:pPr>
            <a:r>
              <a:t>SOM — Year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5541264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D4D4D4"/>
                </a:solidFill>
                <a:latin typeface="Helvetica"/>
              </a:defRPr>
            </a:pPr>
            <a:r>
              <a:t>$25M  ·  30–100 units across both markets at $150–250K blended ASP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355080"/>
            <a:ext cx="11277295" cy="9525"/>
          </a:xfrm>
          <a:prstGeom prst="rect">
            <a:avLst/>
          </a:prstGeom>
          <a:solidFill>
            <a:srgbClr val="22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9A9A9A"/>
                </a:solidFill>
                <a:latin typeface="Helvetica"/>
              </a:defRPr>
            </a:pPr>
            <a:r>
              <a:t>CHARGEBOTIC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6446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>
                <a:solidFill>
                  <a:srgbClr val="555555"/>
                </a:solidFill>
                <a:latin typeface="Helvetica"/>
              </a:defRPr>
            </a:pPr>
            <a:r>
              <a:t>anis@chargebotic.com  ·  chargebotic.com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446520"/>
            <a:ext cx="21332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00" b="1">
                <a:solidFill>
                  <a:srgbClr val="9A9A9A"/>
                </a:solidFill>
                <a:latin typeface="Helvetica"/>
              </a:defRPr>
            </a:pPr>
            <a: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22C55E"/>
                </a:solidFill>
                <a:latin typeface="Helvetica"/>
              </a:defRPr>
            </a:pPr>
            <a: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Helvetica"/>
              </a:defRPr>
            </a:pPr>
            <a:r>
              <a:t>One drone.</a:t>
            </a:r>
            <a:br/>
            <a:r>
              <a:t>Two markets.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0058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D4D4D4"/>
                </a:solidFill>
                <a:latin typeface="Helvetica"/>
              </a:defRPr>
            </a:pPr>
            <a:r>
              <a:t>Chargebotic perches on any power line, harvests energy via magnetic induction, and uses it for two missions — with the same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600" b="1">
                <a:solidFill>
                  <a:srgbClr val="00B4FF"/>
                </a:solidFill>
                <a:latin typeface="Helvetica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81635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00B4FF"/>
                </a:solidFill>
                <a:latin typeface="Helvetica"/>
              </a:defRPr>
            </a:pPr>
            <a:r>
              <a:t>DEPLOY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816352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D4D4D4"/>
                </a:solidFill>
                <a:latin typeface="Helvetica"/>
              </a:defRPr>
            </a:pPr>
            <a:r>
              <a:t>Launch from any ground vehicle. No permits. No infrastructure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456432"/>
            <a:ext cx="11064240" cy="9525"/>
          </a:xfrm>
          <a:prstGeom prst="rect">
            <a:avLst/>
          </a:prstGeom>
          <a:solidFill>
            <a:srgbClr val="22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584448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600" b="1">
                <a:solidFill>
                  <a:srgbClr val="F97316"/>
                </a:solidFill>
                <a:latin typeface="Helvetica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6576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Helvetica"/>
              </a:defRPr>
            </a:pPr>
            <a:r>
              <a:t>PERCH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365760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D4D4D4"/>
                </a:solidFill>
                <a:latin typeface="Helvetica"/>
              </a:defRPr>
            </a:pPr>
            <a:r>
              <a:t>Computer vision locks onto the line. The drone clamps on and holds indefinitely.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97680"/>
            <a:ext cx="11064240" cy="9525"/>
          </a:xfrm>
          <a:prstGeom prst="rect">
            <a:avLst/>
          </a:prstGeom>
          <a:solidFill>
            <a:srgbClr val="22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25696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600" b="1">
                <a:solidFill>
                  <a:srgbClr val="22C55E"/>
                </a:solidFill>
                <a:latin typeface="Helvetica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4988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22C55E"/>
                </a:solidFill>
                <a:latin typeface="Helvetica"/>
              </a:defRPr>
            </a:pPr>
            <a:r>
              <a:t>HARVEST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498848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D4D4D4"/>
                </a:solidFill>
                <a:latin typeface="Helvetica"/>
              </a:defRPr>
            </a:pPr>
            <a:r>
              <a:t>Induction coil extracts AC energy from the line. No wire contact.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138928"/>
            <a:ext cx="11064240" cy="9525"/>
          </a:xfrm>
          <a:prstGeom prst="rect">
            <a:avLst/>
          </a:prstGeom>
          <a:solidFill>
            <a:srgbClr val="22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266944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Helvetica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34009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DELIVER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5340096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D4D4D4"/>
                </a:solidFill>
                <a:latin typeface="Helvetica"/>
              </a:defRPr>
            </a:pPr>
            <a:r>
              <a:t>Defense: DC power down the tether to robots, sensors, comms.  Utility: AI inspection data in real time.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355080"/>
            <a:ext cx="11277295" cy="9525"/>
          </a:xfrm>
          <a:prstGeom prst="rect">
            <a:avLst/>
          </a:prstGeom>
          <a:solidFill>
            <a:srgbClr val="22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9A9A9A"/>
                </a:solidFill>
                <a:latin typeface="Helvetica"/>
              </a:defRPr>
            </a:pPr>
            <a:r>
              <a:t>CHARGEBOTIC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6446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>
                <a:solidFill>
                  <a:srgbClr val="555555"/>
                </a:solidFill>
                <a:latin typeface="Helvetica"/>
              </a:defRPr>
            </a:pPr>
            <a:r>
              <a:t>anis@chargebotic.com  ·  chargebotic.com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446520"/>
            <a:ext cx="21332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00" b="1">
                <a:solidFill>
                  <a:srgbClr val="9A9A9A"/>
                </a:solidFill>
                <a:latin typeface="Helvetica"/>
              </a:defRPr>
            </a:pPr>
            <a: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F97316"/>
                </a:solidFill>
                <a:latin typeface="Helvetica"/>
              </a:defRPr>
            </a:pPr>
            <a:r>
              <a:t>WHO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Helvetica"/>
              </a:defRPr>
            </a:pPr>
            <a:r>
              <a:t>Built to prototype, sell, and win contracts.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920240"/>
            <a:ext cx="2743200" cy="4114800"/>
          </a:xfrm>
          <a:prstGeom prst="rect">
            <a:avLst/>
          </a:prstGeom>
          <a:solidFill>
            <a:srgbClr val="0D111C"/>
          </a:solidFill>
          <a:ln w="12700">
            <a:solidFill>
              <a:srgbClr val="00B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057400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Helvetica"/>
              </a:defRPr>
            </a:pPr>
            <a:r>
              <a:t>ANIS CHERIET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95728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00B4FF"/>
                </a:solidFill>
                <a:latin typeface="Helvetica"/>
              </a:defRPr>
            </a:pPr>
            <a:r>
              <a:t>Co-Founder &amp; CEO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834640"/>
            <a:ext cx="254203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D4D4"/>
                </a:solidFill>
                <a:latin typeface="Helvetica"/>
              </a:defRPr>
            </a:pPr>
            <a:r>
              <a:t>·  EV charging infrastructure background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566160"/>
            <a:ext cx="254203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D4D4"/>
                </a:solidFill>
                <a:latin typeface="Helvetica"/>
              </a:defRPr>
            </a:pPr>
            <a:r>
              <a:t>·  Fundraising, BD, investor relations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297680"/>
            <a:ext cx="254203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D4D4"/>
                </a:solidFill>
                <a:latin typeface="Helvetica"/>
              </a:defRPr>
            </a:pPr>
            <a:r>
              <a:t>·  Driving Chariot deal, Cupertino LOI, Terna deep dive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920240"/>
            <a:ext cx="2743200" cy="4114800"/>
          </a:xfrm>
          <a:prstGeom prst="rect">
            <a:avLst/>
          </a:prstGeom>
          <a:solidFill>
            <a:srgbClr val="0D111C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2057400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Helvetica"/>
              </a:defRPr>
            </a:pPr>
            <a:r>
              <a:t>BO CHRISTOPHER REDFEARN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2395728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F97316"/>
                </a:solidFill>
                <a:latin typeface="Helvetica"/>
              </a:defRPr>
            </a:pPr>
            <a:r>
              <a:t>Co-Founder &amp; CTO — Formerly Apple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834640"/>
            <a:ext cx="254203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D4D4"/>
                </a:solidFill>
                <a:latin typeface="Helvetica"/>
              </a:defRPr>
            </a:pPr>
            <a:r>
              <a:t>·  Hardware and electrical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566160"/>
            <a:ext cx="254203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D4D4"/>
                </a:solidFill>
                <a:latin typeface="Helvetica"/>
              </a:defRPr>
            </a:pPr>
            <a:r>
              <a:t>·  Leads prototype: inductive harvesting + tether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4297680"/>
            <a:ext cx="254203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D4D4"/>
                </a:solidFill>
                <a:latin typeface="Helvetica"/>
              </a:defRPr>
            </a:pPr>
            <a:r>
              <a:t>·  BOM, suppliers, bench validation, certs roadmap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59" y="1920240"/>
            <a:ext cx="2743200" cy="4114800"/>
          </a:xfrm>
          <a:prstGeom prst="rect">
            <a:avLst/>
          </a:prstGeom>
          <a:solidFill>
            <a:srgbClr val="0D111C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1" y="2057400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Helvetica"/>
              </a:defRPr>
            </a:pPr>
            <a:r>
              <a:t>ARMIN FOROUGHI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1" y="2395728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22C55E"/>
                </a:solidFill>
                <a:latin typeface="Helvetica"/>
              </a:defRPr>
            </a:pPr>
            <a:r>
              <a:t>Co-Founder — AI/ML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1" y="2834640"/>
            <a:ext cx="254203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D4D4"/>
                </a:solidFill>
                <a:latin typeface="Helvetica"/>
              </a:defRPr>
            </a:pPr>
            <a:r>
              <a:t>·  Computer vision and autonomy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1" y="3566160"/>
            <a:ext cx="254203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D4D4"/>
                </a:solidFill>
                <a:latin typeface="Helvetica"/>
              </a:defRPr>
            </a:pPr>
            <a:r>
              <a:t>·  Power line detection and perch algorithms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1" y="4297680"/>
            <a:ext cx="254203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D4D4"/>
                </a:solidFill>
                <a:latin typeface="Helvetica"/>
              </a:defRPr>
            </a:pPr>
            <a:r>
              <a:t>·  Real-time inspection data pipeline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19" y="1920240"/>
            <a:ext cx="2743200" cy="4114800"/>
          </a:xfrm>
          <a:prstGeom prst="rect">
            <a:avLst/>
          </a:prstGeom>
          <a:solidFill>
            <a:srgbClr val="0D111C"/>
          </a:solidFill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1" y="2057400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Helvetica"/>
              </a:defRPr>
            </a:pPr>
            <a:r>
              <a:t>STEVE MACENSKI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1" y="2395728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9A9A9A"/>
                </a:solidFill>
                <a:latin typeface="Helvetica"/>
              </a:defRPr>
            </a:pPr>
            <a:r>
              <a:t>Technical Advisor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1" y="2834640"/>
            <a:ext cx="254203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D4D4"/>
                </a:solidFill>
                <a:latin typeface="Helvetica"/>
              </a:defRPr>
            </a:pPr>
            <a:r>
              <a:t>·  Maintainer of Nav2 — most deployed open-source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54311" y="3566160"/>
            <a:ext cx="254203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D4D4"/>
                </a:solidFill>
                <a:latin typeface="Helvetica"/>
              </a:defRPr>
            </a:pPr>
            <a:r>
              <a:t>·  robotics navigation stack worldwide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54311" y="4297680"/>
            <a:ext cx="254203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D4D4"/>
                </a:solidFill>
                <a:latin typeface="Helvetica"/>
              </a:defRPr>
            </a:pPr>
            <a:r>
              <a:t>·  Autonomy and defense ecosystem access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144768"/>
            <a:ext cx="10698480" cy="384048"/>
          </a:xfrm>
          <a:prstGeom prst="rect">
            <a:avLst/>
          </a:prstGeom>
          <a:solidFill>
            <a:srgbClr val="0D1F0D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6236208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Helvetica"/>
              </a:defRPr>
            </a:pPr>
            <a:r>
              <a:t>Founders Inc Accelerator  ·  NVIDIA Inception  ·  Demo Day completed May 2026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355080"/>
            <a:ext cx="11277295" cy="9525"/>
          </a:xfrm>
          <a:prstGeom prst="rect">
            <a:avLst/>
          </a:prstGeom>
          <a:solidFill>
            <a:srgbClr val="22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9A9A9A"/>
                </a:solidFill>
                <a:latin typeface="Helvetica"/>
              </a:defRPr>
            </a:pPr>
            <a:r>
              <a:t>CHARGEBOTIC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46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>
                <a:solidFill>
                  <a:srgbClr val="555555"/>
                </a:solidFill>
                <a:latin typeface="Helvetica"/>
              </a:defRPr>
            </a:pPr>
            <a:r>
              <a:t>anis@chargebotic.com  ·  chargebotic.com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6446520"/>
            <a:ext cx="21332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00" b="1">
                <a:solidFill>
                  <a:srgbClr val="9A9A9A"/>
                </a:solidFill>
                <a:latin typeface="Helvetica"/>
              </a:defRPr>
            </a:pPr>
            <a: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22C55E"/>
                </a:solidFill>
                <a:latin typeface="Helvetica"/>
              </a:defRPr>
            </a:pPr>
            <a:r>
              <a:t>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Helvetica"/>
              </a:defRPr>
            </a:pPr>
            <a:r>
              <a:t>Three live deals. One demo secured.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45720" cy="71323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Helvetica"/>
              </a:defRPr>
            </a:pPr>
            <a:r>
              <a:t>Chariot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50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D4D4D4"/>
                </a:solidFill>
                <a:latin typeface="Helvetica"/>
              </a:defRPr>
            </a:pPr>
            <a:r>
              <a:t>$6.5M/year commercial order pending JIFX pilot success. Adam Warmoth, CEO: "The hardest part is keeping them charged." $41M raised, a16z Series 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34640"/>
            <a:ext cx="11064240" cy="9525"/>
          </a:xfrm>
          <a:prstGeom prst="rect">
            <a:avLst/>
          </a:prstGeom>
          <a:solidFill>
            <a:srgbClr val="22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035808"/>
            <a:ext cx="45720" cy="713232"/>
          </a:xfrm>
          <a:prstGeom prst="rect">
            <a:avLst/>
          </a:prstGeom>
          <a:solidFill>
            <a:srgbClr val="00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99008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Helvetica"/>
              </a:defRPr>
            </a:pPr>
            <a:r>
              <a:t>Cupertino — Letter of Interest confirmed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7413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D4D4D4"/>
                </a:solidFill>
                <a:latin typeface="Helvetica"/>
              </a:defRPr>
            </a:pPr>
            <a:r>
              <a:t>Largest utility inspector in the US. Power line inspection use case. Pilot scope in discussion.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58768"/>
            <a:ext cx="11064240" cy="9525"/>
          </a:xfrm>
          <a:prstGeom prst="rect">
            <a:avLst/>
          </a:prstGeom>
          <a:solidFill>
            <a:srgbClr val="22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059936"/>
            <a:ext cx="45720" cy="713232"/>
          </a:xfrm>
          <a:prstGeom prst="rect">
            <a:avLst/>
          </a:prstGeom>
          <a:solidFill>
            <a:srgbClr val="00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14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Helvetica"/>
              </a:defRPr>
            </a:pPr>
            <a:r>
              <a:t>Terna Forward — Italian national grid CVC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9826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D4D4D4"/>
                </a:solidFill>
                <a:latin typeface="Helvetica"/>
              </a:defRPr>
            </a:pPr>
            <a:r>
              <a:t>Italy's national power grid operator reached out. Deep dive scheduled Jun 30, 2026.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882896"/>
            <a:ext cx="11064240" cy="9525"/>
          </a:xfrm>
          <a:prstGeom prst="rect">
            <a:avLst/>
          </a:prstGeom>
          <a:solidFill>
            <a:srgbClr val="22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084064"/>
            <a:ext cx="45720" cy="71323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38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Helvetica"/>
              </a:defRPr>
            </a:pPr>
            <a:r>
              <a:t>JIFX 26-4 secured — Aug 10–14, Camp Roberts 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223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D4D4D4"/>
                </a:solidFill>
                <a:latin typeface="Helvetica"/>
              </a:defRPr>
            </a:pPr>
            <a:r>
              <a:t>Joint demo with Chariot Defense. Hardware ordered from ORQA, delivery Jul 1. Goal: energy harvest → Chariot Amphora ground system.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355080"/>
            <a:ext cx="11277295" cy="9525"/>
          </a:xfrm>
          <a:prstGeom prst="rect">
            <a:avLst/>
          </a:prstGeom>
          <a:solidFill>
            <a:srgbClr val="22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9A9A9A"/>
                </a:solidFill>
                <a:latin typeface="Helvetica"/>
              </a:defRPr>
            </a:pPr>
            <a:r>
              <a:t>CHARGEBOTIC INC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446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>
                <a:solidFill>
                  <a:srgbClr val="555555"/>
                </a:solidFill>
                <a:latin typeface="Helvetica"/>
              </a:defRPr>
            </a:pPr>
            <a:r>
              <a:t>anis@chargebotic.com  ·  chargebotic.com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446520"/>
            <a:ext cx="21332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00" b="1">
                <a:solidFill>
                  <a:srgbClr val="9A9A9A"/>
                </a:solidFill>
                <a:latin typeface="Helvetica"/>
              </a:defRPr>
            </a:pPr>
            <a: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00B4FF"/>
                </a:solidFill>
                <a:latin typeface="Helvetica"/>
              </a:defRPr>
            </a:pPr>
            <a: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Helvetica"/>
              </a:defRPr>
            </a:pPr>
            <a:r>
              <a:t>18 months to seed-raise ready.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956816"/>
            <a:ext cx="146304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  <a:latin typeface="Helvetica"/>
              </a:defRPr>
            </a:pPr>
            <a:r>
              <a:t>Aug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920240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JIFX 26-4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2128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D4D4D4"/>
                </a:solidFill>
                <a:latin typeface="Helvetica"/>
              </a:defRPr>
            </a:pPr>
            <a:r>
              <a:t>Energy harvest → Chariot Amphora. Camp Roberts 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706624"/>
            <a:ext cx="146304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70048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  <a:latin typeface="Helvetica"/>
              </a:defRPr>
            </a:pPr>
            <a:r>
              <a:t>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670048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TRL 6 — working prototype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96265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D4D4D4"/>
                </a:solidFill>
                <a:latin typeface="Helvetica"/>
              </a:defRPr>
            </a:pPr>
            <a:r>
              <a:t>Bench-validated. First real power line test.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456432"/>
            <a:ext cx="146304" cy="146304"/>
          </a:xfrm>
          <a:prstGeom prst="rect">
            <a:avLst/>
          </a:prstGeom>
          <a:solidFill>
            <a:srgbClr val="00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419856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00B4FF"/>
                </a:solidFill>
                <a:latin typeface="Helvetica"/>
              </a:defRPr>
            </a:pPr>
            <a:r>
              <a:t>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419856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First paid pilots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71246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D4D4D4"/>
                </a:solidFill>
                <a:latin typeface="Helvetica"/>
              </a:defRPr>
            </a:pPr>
            <a:r>
              <a:t>2–3 units deployed — defense + utility.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206240"/>
            <a:ext cx="146304" cy="146304"/>
          </a:xfrm>
          <a:prstGeom prst="rect">
            <a:avLst/>
          </a:prstGeom>
          <a:solidFill>
            <a:srgbClr val="00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6966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00B4FF"/>
                </a:solidFill>
                <a:latin typeface="Helvetica"/>
              </a:defRPr>
            </a:pPr>
            <a:r>
              <a:t>Q1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169664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SBIR Phase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4622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D4D4D4"/>
                </a:solidFill>
                <a:latin typeface="Helvetica"/>
              </a:defRPr>
            </a:pPr>
            <a:r>
              <a:t>$250K non-dilutive. Army + SOCOM applications.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956048"/>
            <a:ext cx="146304" cy="146304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91947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22C55E"/>
                </a:solidFill>
                <a:latin typeface="Helvetica"/>
              </a:defRPr>
            </a:pPr>
            <a:r>
              <a:t>Q3 2027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919472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$100–200K ARR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52120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D4D4D4"/>
                </a:solidFill>
                <a:latin typeface="Helvetica"/>
              </a:defRPr>
            </a:pPr>
            <a:r>
              <a:t>5–8 units contracted. Seed round launched.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1691640"/>
            <a:ext cx="3886200" cy="4343400"/>
          </a:xfrm>
          <a:prstGeom prst="rect">
            <a:avLst/>
          </a:prstGeom>
          <a:solidFill>
            <a:srgbClr val="0D111C"/>
          </a:solidFill>
          <a:ln w="19050">
            <a:solidFill>
              <a:srgbClr val="00B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187451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00B4FF"/>
                </a:solidFill>
                <a:latin typeface="Helvetica"/>
              </a:defRPr>
            </a:pPr>
            <a:r>
              <a:t>THE 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2240280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"/>
              </a:defRPr>
            </a:pPr>
            <a:r>
              <a:t>Raising $2M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2999232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D4D4"/>
                </a:solidFill>
                <a:latin typeface="Helvetica"/>
              </a:defRPr>
            </a:pPr>
            <a:r>
              <a:t>$10M cap SAFE  ·  18 months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01000" y="3493008"/>
            <a:ext cx="45720" cy="25603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79" y="345643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Helvetica"/>
              </a:defRPr>
            </a:pPr>
            <a:r>
              <a:t>JIFX demo + pilot units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1000" y="3950208"/>
            <a:ext cx="45720" cy="25603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79" y="391363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Helvetica"/>
              </a:defRPr>
            </a:pPr>
            <a:r>
              <a:t>TRL 6 prototype by Oct 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01000" y="4407408"/>
            <a:ext cx="45720" cy="25603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79" y="437083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Helvetica"/>
              </a:defRPr>
            </a:pPr>
            <a:r>
              <a:t>Utility pilots: Cupertino + Terna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1000" y="4864608"/>
            <a:ext cx="45720" cy="25603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79" y="482803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Helvetica"/>
              </a:defRPr>
            </a:pPr>
            <a:r>
              <a:t>SBIR Phase I submitted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01000" y="5321808"/>
            <a:ext cx="45720" cy="256032"/>
          </a:xfrm>
          <a:prstGeom prst="rect">
            <a:avLst/>
          </a:prstGeom>
          <a:solidFill>
            <a:srgbClr val="00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83879" y="528523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00B4FF"/>
                </a:solidFill>
                <a:latin typeface="Helvetica"/>
              </a:defRPr>
            </a:pPr>
            <a:r>
              <a:t>Seed-raise ready at $20–30M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71500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9A9A9A"/>
                </a:solidFill>
                <a:latin typeface="Helvetica"/>
              </a:defRPr>
            </a:pPr>
            <a:r>
              <a:t>Anis Cheriet — anis@chargebotic.com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355080"/>
            <a:ext cx="11277295" cy="9525"/>
          </a:xfrm>
          <a:prstGeom prst="rect">
            <a:avLst/>
          </a:prstGeom>
          <a:solidFill>
            <a:srgbClr val="22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9A9A9A"/>
                </a:solidFill>
                <a:latin typeface="Helvetica"/>
              </a:defRPr>
            </a:pPr>
            <a:r>
              <a:t>CHARGEBOTIC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6446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>
                <a:solidFill>
                  <a:srgbClr val="555555"/>
                </a:solidFill>
                <a:latin typeface="Helvetica"/>
              </a:defRPr>
            </a:pPr>
            <a:r>
              <a:t>anis@chargebotic.com  ·  chargebotic.com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6446520"/>
            <a:ext cx="21332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00" b="1">
                <a:solidFill>
                  <a:srgbClr val="9A9A9A"/>
                </a:solidFill>
                <a:latin typeface="Helvetica"/>
              </a:defRPr>
            </a:pPr>
            <a: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